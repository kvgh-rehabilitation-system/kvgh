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391" r:id="rId5"/>
    <p:sldId id="2392" r:id="rId6"/>
    <p:sldId id="2393" r:id="rId7"/>
    <p:sldId id="2394" r:id="rId8"/>
    <p:sldId id="2390" r:id="rId9"/>
    <p:sldId id="260" r:id="rId10"/>
    <p:sldId id="261" r:id="rId11"/>
    <p:sldId id="262" r:id="rId12"/>
    <p:sldId id="2395" r:id="rId13"/>
    <p:sldId id="2396" r:id="rId14"/>
    <p:sldId id="2397" r:id="rId15"/>
    <p:sldId id="2398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4658"/>
  </p:normalViewPr>
  <p:slideViewPr>
    <p:cSldViewPr snapToGrid="0">
      <p:cViewPr varScale="1">
        <p:scale>
          <a:sx n="66" d="100"/>
          <a:sy n="66" d="100"/>
        </p:scale>
        <p:origin x="687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E426B3-786A-4C1F-9914-BD25571C8F4A}" type="datetimeFigureOut">
              <a:rPr lang="zh-TW" altLang="en-US" smtClean="0"/>
              <a:t>2025/5/11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F54663-72DB-41B9-9BF9-0A417D53D8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3707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F54663-72DB-41B9-9BF9-0A417D53D8D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441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F54663-72DB-41B9-9BF9-0A417D53D8D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9831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E7F1F-AEFA-6489-7F14-ABEF7702E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7924189-7D52-6261-0801-4373A1B11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4D7C473-911C-3AEE-13B8-8493653D7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338CA0D-63EA-CA3B-2924-A5E3ED1DE3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F54663-72DB-41B9-9BF9-0A417D53D8D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63786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0D864-8E23-8E77-0772-480FFF1C1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9613998-4106-7A5F-29B1-53C26673BB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C7D11BC-E2CE-4124-F002-FC6A347B4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7DF0FB1-0C55-1E77-BFE5-77A804545B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F54663-72DB-41B9-9BF9-0A417D53D8D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8268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5513C-F8B9-E68A-2320-E2BFA7375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DF5BAA2-0CA3-51AB-DCAB-C2C99C443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E67BB39-AFCD-823A-D157-30015E82C7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61B1385-49A0-F457-2A67-2AD2A6C108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F54663-72DB-41B9-9BF9-0A417D53D8D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52809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64218-C2DD-0250-C00C-C92D58A9C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A7FAC98-2384-903C-43A1-FBCB50F9D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284B56A-D116-A33E-5105-C08DB5531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6C750BF-6CA3-D5A7-8276-40F509C42C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F54663-72DB-41B9-9BF9-0A417D53D8D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2840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78573-8508-4D79-0BC0-5E6DFBB3B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90E66C-6055-1275-0CD3-8EBC30740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5DEAE9E-DEC1-CD77-24F0-22F9DC815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CF3BCE-CD9E-1A69-606D-6784ECF37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F54663-72DB-41B9-9BF9-0A417D53D8D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39467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DAC6A-A517-DD46-7382-DE61BDAC5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901D50E-4476-12D4-868B-06EBDF0F87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7F2A41E-7D2C-A577-062F-6C3627138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48D3D9F-2873-CF85-6EC4-D8F6134AD8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F54663-72DB-41B9-9BF9-0A417D53D8D2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63642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D1199-EB89-26FA-51FC-59ABB7ED7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CD16C31-1E90-4183-9DA7-02A4E9C0B9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484E80F-98E9-5CDD-D563-F0F1841C73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6C6506C-E975-FAFC-9047-7E2DEF3AEF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F54663-72DB-41B9-9BF9-0A417D53D8D2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73046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25C49-C63B-702B-1252-F3209D0A9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26A0CF6-62D4-412D-DB42-5CE99DCCA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6C03A75-5DCA-9926-E9BE-BE73373D3B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8EEA80-A09E-30A0-1351-2CBDAFDFCF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F54663-72DB-41B9-9BF9-0A417D53D8D2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56159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C593D-4A6B-54A6-1634-8A0F7A0FF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6A9BC1B-5528-D1F1-0307-93F051119C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4E254E6-9F79-7240-63AE-3A4C13597E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74BF54-590A-DB72-A405-2FCB5126E0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F54663-72DB-41B9-9BF9-0A417D53D8D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04877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F2313-E425-2AB2-B82B-80EC2E0DC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C4DF42D-851E-035D-9302-17949B9DBB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1EEF41A-A2C7-4BA8-917D-78E2B99B0C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0E8763-5491-3396-37E8-A848489D12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F54663-72DB-41B9-9BF9-0A417D53D8D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37917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B1FE5-C9DC-B35A-01AF-D0370A953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838E1CD-1946-458F-B5DB-B54ED292D8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98E3B4C-AEFD-7D07-87C7-045314B7F0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CB457BA-F1B6-5A41-00BA-68AEF9628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F54663-72DB-41B9-9BF9-0A417D53D8D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5021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97ADB-9A1A-B6F6-5315-75B9E0561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AECFC5F-0742-BE69-3452-EAFEC5B29B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9FEB790-951C-72D6-0892-890CE92F0A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BB24D2-1C87-DB39-A1B3-776A3EC405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F54663-72DB-41B9-9BF9-0A417D53D8D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1439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3FEDF0-5F6E-60F6-4FCC-10BAE9497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9BF7F20-551F-44AF-283E-B90945AD5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85D5C16-A5D4-CD86-BF45-4370F1428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A0478-8372-4CE6-81D4-A8EE5EFC5EDA}" type="datetimeFigureOut">
              <a:rPr lang="zh-TW" altLang="en-US" smtClean="0"/>
              <a:t>2025/5/11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EC7E53E-037C-F871-9F74-8CB0EBA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AE3A529-4D2D-D887-4342-87E82F2D9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DB21-551F-43D2-BEA3-56BDD31345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5949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902FA5-D614-51B0-D853-C20C27399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4E89E6-034A-C7A5-F801-431AE6562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F51B40-430E-2A01-1131-4CDA67B9B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A0478-8372-4CE6-81D4-A8EE5EFC5EDA}" type="datetimeFigureOut">
              <a:rPr lang="zh-TW" altLang="en-US" smtClean="0"/>
              <a:t>2025/5/11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E54647D-2E54-8510-9348-7A203C074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E40513C-9DAE-FCDD-B7C4-1D3D11812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DB21-551F-43D2-BEA3-56BDD31345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2934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87B2F2-E3FB-5F61-7BB7-12C656AE7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187EB78-C2EA-3B60-AC40-5A0110742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7F7530-5B70-1BA7-76E8-E35B093CE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A0478-8372-4CE6-81D4-A8EE5EFC5EDA}" type="datetimeFigureOut">
              <a:rPr lang="zh-TW" altLang="en-US" smtClean="0"/>
              <a:t>2025/5/11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7452429-66B8-51C5-CCB9-8BBC7259F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508F871-9039-2D77-37C5-BF4D9FA86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DB21-551F-43D2-BEA3-56BDD31345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4434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5F3010-B2F9-BAB3-E6B2-84364A249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5DFFC8-7908-36D1-6E11-58359ACBEA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F5399D0-07DB-4799-CF43-0E595DCD0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C352705-68F1-3514-E477-E3C8D710E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A0478-8372-4CE6-81D4-A8EE5EFC5EDA}" type="datetimeFigureOut">
              <a:rPr lang="zh-TW" altLang="en-US" smtClean="0"/>
              <a:t>2025/5/11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F0D13C5-DC98-E487-C7DB-D46BAB864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35D1FC7-6047-4E10-BD16-9F9EE40E8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DB21-551F-43D2-BEA3-56BDD31345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2597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1A7BEF-B6EE-CDB8-2054-F9FC02FCC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74F4AA9-404B-F768-DD66-3707E9F53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1B7493D-7601-C14A-45BD-753B9B437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62BACDA-5D95-44AF-DD1C-76C0652318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79A26AB-C391-AD44-8A38-B826F35C7C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8A1326A-095C-20D0-EB48-BC524EE4C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A0478-8372-4CE6-81D4-A8EE5EFC5EDA}" type="datetimeFigureOut">
              <a:rPr lang="zh-TW" altLang="en-US" smtClean="0"/>
              <a:t>2025/5/11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6BD17C5-0939-A3E8-46E9-097EA9365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12FE3CB-E7F8-677D-77AE-584E0A58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DB21-551F-43D2-BEA3-56BDD31345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8018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6417BB-47CD-203C-CA3F-78B16B25D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5CD36DB-9763-DFA0-D130-A8BABFE51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A0478-8372-4CE6-81D4-A8EE5EFC5EDA}" type="datetimeFigureOut">
              <a:rPr lang="zh-TW" altLang="en-US" smtClean="0"/>
              <a:t>2025/5/11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12E9CDB-9646-381B-19C1-B154E77EE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0D7CA48-EF43-BB10-0C67-6D793D477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DB21-551F-43D2-BEA3-56BDD31345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6008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B64AEF5-9FB4-9391-0B95-D052AA7FA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A0478-8372-4CE6-81D4-A8EE5EFC5EDA}" type="datetimeFigureOut">
              <a:rPr lang="zh-TW" altLang="en-US" smtClean="0"/>
              <a:t>2025/5/11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ED953FB-01EC-EB49-0EE0-E20BDB659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821913-2F38-50A8-26D4-66864470F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DB21-551F-43D2-BEA3-56BDD31345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643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A21015-B3BF-73BC-E2F9-2756C1665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724F5F-8CEA-D8E2-3560-74516AB30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D61B407-275E-28E6-49CC-BD3134AEB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5813B1B-2328-259F-3D5C-16AE59616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A0478-8372-4CE6-81D4-A8EE5EFC5EDA}" type="datetimeFigureOut">
              <a:rPr lang="zh-TW" altLang="en-US" smtClean="0"/>
              <a:t>2025/5/11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28C0B98-32BF-838C-8B50-2768F3788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05B0CDE-E5F6-B85E-AFFC-759FD908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DB21-551F-43D2-BEA3-56BDD31345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9021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FACB9B-CC7B-8933-2A48-BD9414EB4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2066CEE-6836-6F78-0E84-9E62296504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4F3ADAF-4E35-54D5-2117-550C87BE8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0599B25-F05B-783B-F20C-31487DA6C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A0478-8372-4CE6-81D4-A8EE5EFC5EDA}" type="datetimeFigureOut">
              <a:rPr lang="zh-TW" altLang="en-US" smtClean="0"/>
              <a:t>2025/5/11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43ED1EE-74A6-EEB0-FC67-DEB079C7F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BEA77D2-8602-4CE3-287C-8EF42655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DB21-551F-43D2-BEA3-56BDD31345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2221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B0F95C-AD48-0377-78AC-0A69B40BD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8C58A35-419C-1956-399A-8FB4AF205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A4A661-E3F7-83F0-D1B3-E4ED62A6F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A0478-8372-4CE6-81D4-A8EE5EFC5EDA}" type="datetimeFigureOut">
              <a:rPr lang="zh-TW" altLang="en-US" smtClean="0"/>
              <a:t>2025/5/11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1E72BA6-2964-3F3C-3AE4-425021B6A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54A6CF2-93BE-7677-A19F-AFD17564D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DB21-551F-43D2-BEA3-56BDD31345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6176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3ED8E7B-9F83-8D50-99EC-352B16BCC9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E2AB93D-4BC5-8188-BDB0-A049B5B1DF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2FCDA7D-AC3A-B0D8-F3B8-754A88690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A0478-8372-4CE6-81D4-A8EE5EFC5EDA}" type="datetimeFigureOut">
              <a:rPr lang="zh-TW" altLang="en-US" smtClean="0"/>
              <a:t>2025/5/11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02B7500-E63A-1939-94DC-A27A32270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1CFDC4-BC74-6181-2254-2336500FB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DB21-551F-43D2-BEA3-56BDD31345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0970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20F8941-CC81-CE4E-7B60-B14A9EB1D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6A8C902-0576-F218-7BEB-0180DECA1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2B5C77-BF2E-DAE3-D551-0062658E60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1A0478-8372-4CE6-81D4-A8EE5EFC5EDA}" type="datetimeFigureOut">
              <a:rPr lang="zh-TW" altLang="en-US" smtClean="0"/>
              <a:t>2025/5/11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FAE14A5-1447-7E2C-FE25-49E2284443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E5AB1AD-0F90-9CA9-61BD-A04A116EA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D8DB21-551F-43D2-BEA3-56BDD31345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7608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BCB02B1-1B82-403C-B7D2-E2CED1882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CDE13A7-6382-4A67-BEBE-4FF1F37C7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9978FC9-2E40-4257-8D97-FAB20CA4BF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40ABB98-77BA-4C40-8121-34D196E58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1AA752E-66C1-4835-8A3C-556475159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E9555AB-2295-4939-AEC9-B2CBFCB4CC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7499201-5A2C-48B3-9B02-5519B88294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FC2AE7-C60C-4C48-BCAE-410BB6C3D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40EA1593-6BC9-441E-8F3C-46DD50F810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7147D5D-F01F-4164-BD81-D10DC6F23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142" y="2854"/>
            <a:ext cx="2783421" cy="2406445"/>
            <a:chOff x="-305" y="-4155"/>
            <a:chExt cx="2514948" cy="2174333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F24C7412-3E2D-4708-8DC3-425A457A10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71483A6A-CB0B-4469-B09D-C9451F9B0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A935E9D-EB55-46F3-BCCB-9CB918E87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8EDC5655-C7D7-4936-91EA-E188A96DC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D0E248E-80AB-4B35-BA8D-F940FCB44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417253" y="4456669"/>
            <a:ext cx="2783421" cy="2406445"/>
            <a:chOff x="-305" y="-4155"/>
            <a:chExt cx="2514948" cy="2174333"/>
          </a:xfrm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F9E91B0A-66E8-4298-BAC6-004DBE49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A629C66-36BD-487E-B1CD-ED026D7789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A6BC2D2C-3D7D-4224-81BC-22C094C9F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3BDF903-22C5-4312-8776-C2ABC3EDC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標題 1">
            <a:extLst>
              <a:ext uri="{FF2B5EF4-FFF2-40B4-BE49-F238E27FC236}">
                <a16:creationId xmlns:a16="http://schemas.microsoft.com/office/drawing/2014/main" id="{B2151321-2BCB-5BA6-E952-887AC4D9C3D3}"/>
              </a:ext>
            </a:extLst>
          </p:cNvPr>
          <p:cNvSpPr txBox="1">
            <a:spLocks/>
          </p:cNvSpPr>
          <p:nvPr/>
        </p:nvSpPr>
        <p:spPr>
          <a:xfrm>
            <a:off x="107569" y="-66896"/>
            <a:ext cx="2492829" cy="1038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副標題 2">
            <a:extLst>
              <a:ext uri="{FF2B5EF4-FFF2-40B4-BE49-F238E27FC236}">
                <a16:creationId xmlns:a16="http://schemas.microsoft.com/office/drawing/2014/main" id="{D9FC356F-CBD4-C68B-2405-CC43F277F0F7}"/>
              </a:ext>
            </a:extLst>
          </p:cNvPr>
          <p:cNvSpPr txBox="1">
            <a:spLocks/>
          </p:cNvSpPr>
          <p:nvPr/>
        </p:nvSpPr>
        <p:spPr>
          <a:xfrm>
            <a:off x="-37452" y="2158603"/>
            <a:ext cx="3503443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Camera’s Position</a:t>
            </a:r>
          </a:p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Mentor    : Front</a:t>
            </a:r>
          </a:p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Convalescent : Front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副標題 2">
            <a:extLst>
              <a:ext uri="{FF2B5EF4-FFF2-40B4-BE49-F238E27FC236}">
                <a16:creationId xmlns:a16="http://schemas.microsoft.com/office/drawing/2014/main" id="{3A133E7A-B6A2-43C1-0963-AF711F9F8888}"/>
              </a:ext>
            </a:extLst>
          </p:cNvPr>
          <p:cNvSpPr txBox="1">
            <a:spLocks/>
          </p:cNvSpPr>
          <p:nvPr/>
        </p:nvSpPr>
        <p:spPr>
          <a:xfrm>
            <a:off x="3555024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副標題 2">
            <a:extLst>
              <a:ext uri="{FF2B5EF4-FFF2-40B4-BE49-F238E27FC236}">
                <a16:creationId xmlns:a16="http://schemas.microsoft.com/office/drawing/2014/main" id="{9196899C-8289-CECB-3817-F2DCE21AEC11}"/>
              </a:ext>
            </a:extLst>
          </p:cNvPr>
          <p:cNvSpPr txBox="1">
            <a:spLocks/>
          </p:cNvSpPr>
          <p:nvPr/>
        </p:nvSpPr>
        <p:spPr>
          <a:xfrm>
            <a:off x="8193688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Convalescent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圖片 24" descr="一張含有 人員, 裙子, 牆, 迷你裙 的圖片&#10;&#10;自動產生的描述">
            <a:extLst>
              <a:ext uri="{FF2B5EF4-FFF2-40B4-BE49-F238E27FC236}">
                <a16:creationId xmlns:a16="http://schemas.microsoft.com/office/drawing/2014/main" id="{E1FB3DA7-863E-1B93-4709-ED61A3FAA4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6296" y="1861518"/>
            <a:ext cx="3089587" cy="3799114"/>
          </a:xfrm>
          <a:prstGeom prst="rect">
            <a:avLst/>
          </a:prstGeom>
        </p:spPr>
      </p:pic>
      <p:pic>
        <p:nvPicPr>
          <p:cNvPr id="26" name="圖片 25" descr="一張含有 人員, 足部穿著, 牆, 肩膀 的圖片&#10;&#10;自動產生的描述">
            <a:extLst>
              <a:ext uri="{FF2B5EF4-FFF2-40B4-BE49-F238E27FC236}">
                <a16:creationId xmlns:a16="http://schemas.microsoft.com/office/drawing/2014/main" id="{1B97B08C-12D6-40C8-F2BC-D675C2E397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6857" y="1861518"/>
            <a:ext cx="2438476" cy="3825588"/>
          </a:xfrm>
          <a:prstGeom prst="rect">
            <a:avLst/>
          </a:prstGeom>
        </p:spPr>
      </p:pic>
      <p:sp>
        <p:nvSpPr>
          <p:cNvPr id="28" name="副標題 2">
            <a:extLst>
              <a:ext uri="{FF2B5EF4-FFF2-40B4-BE49-F238E27FC236}">
                <a16:creationId xmlns:a16="http://schemas.microsoft.com/office/drawing/2014/main" id="{C81C16AC-7501-29C8-1FA2-ED7D8D95B950}"/>
              </a:ext>
            </a:extLst>
          </p:cNvPr>
          <p:cNvSpPr txBox="1">
            <a:spLocks/>
          </p:cNvSpPr>
          <p:nvPr/>
        </p:nvSpPr>
        <p:spPr>
          <a:xfrm>
            <a:off x="115302" y="3966279"/>
            <a:ext cx="3779744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Spec: 30 FPS</a:t>
            </a:r>
          </a:p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Duration : 20 seconds</a:t>
            </a:r>
          </a:p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(freeze time excluded)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副標題 2">
            <a:extLst>
              <a:ext uri="{FF2B5EF4-FFF2-40B4-BE49-F238E27FC236}">
                <a16:creationId xmlns:a16="http://schemas.microsoft.com/office/drawing/2014/main" id="{99E4A496-3024-1CEF-7738-E9ECAFD9DCC4}"/>
              </a:ext>
            </a:extLst>
          </p:cNvPr>
          <p:cNvSpPr txBox="1">
            <a:spLocks/>
          </p:cNvSpPr>
          <p:nvPr/>
        </p:nvSpPr>
        <p:spPr>
          <a:xfrm>
            <a:off x="969480" y="877116"/>
            <a:ext cx="11386457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2400" b="1" dirty="0"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Cameras of mentor and convalescent are placed in </a:t>
            </a:r>
            <a:r>
              <a:rPr lang="en-US" altLang="zh-TW" sz="2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SAME</a:t>
            </a:r>
            <a:r>
              <a:rPr lang="en-US" altLang="zh-TW" sz="2400" b="1" dirty="0"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 angle of view.</a:t>
            </a:r>
            <a:endParaRPr lang="zh-TW" altLang="en-US" sz="2400" b="1" dirty="0">
              <a:latin typeface="Times New Roman" panose="02020603050405020304" pitchFamily="18" charset="0"/>
              <a:ea typeface="HYGothic-Extra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212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B4331C-E791-9737-962A-E458CADFB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8AB8548F-B657-6330-269F-6CA24A581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F7DDCBC-A410-F481-7EEF-DA308BAB4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63C2D643-F97A-4BD5-4FDF-1A8CF2F55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3976A05-4B30-0A37-9483-8D8D13627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3E68FBB-0361-F17B-EACB-AA6F513B2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3527BA3-F169-BB50-C206-E5ABE2932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3FB422F-EF02-54CA-D35E-C693BA199B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3CFE271-6CAC-29C6-BA63-8029C70AF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C37885D-92E5-D243-538B-099E6910E8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3ACF887-3583-AF0F-6D3F-11F2CAEFB3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CC4EF09-0B7A-600E-C9B0-429D995BC1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88EEF3F-407B-67A4-AF53-C20832AE1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142" y="2854"/>
            <a:ext cx="2783421" cy="2406445"/>
            <a:chOff x="-305" y="-4155"/>
            <a:chExt cx="2514948" cy="2174333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CE4854E2-940D-71CC-E50A-80C9DF68B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2884E5A6-66D6-2E03-4566-F8E6935439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CCBBF7C3-8708-F5EF-8E8E-FEA15E3D4F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44CA0A3-80A8-805A-F751-8F074BE81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90702B5-72E6-7F6C-BDCA-8F5406B74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417253" y="4456669"/>
            <a:ext cx="2783421" cy="2406445"/>
            <a:chOff x="-305" y="-4155"/>
            <a:chExt cx="2514948" cy="2174333"/>
          </a:xfrm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CAE4927-A142-072D-CE8B-C30ADF1B65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BED1C56-B58D-10F6-F53F-2D2B53C64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A4DF4966-4192-BBC0-ECBD-9326019FAA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DE4C1DA2-1A0C-909D-D11E-92E31CF5B9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標題 1">
            <a:extLst>
              <a:ext uri="{FF2B5EF4-FFF2-40B4-BE49-F238E27FC236}">
                <a16:creationId xmlns:a16="http://schemas.microsoft.com/office/drawing/2014/main" id="{9E426979-A0EC-AB45-D90F-FCEEBB0BB69D}"/>
              </a:ext>
            </a:extLst>
          </p:cNvPr>
          <p:cNvSpPr txBox="1">
            <a:spLocks/>
          </p:cNvSpPr>
          <p:nvPr/>
        </p:nvSpPr>
        <p:spPr>
          <a:xfrm>
            <a:off x="107569" y="-66896"/>
            <a:ext cx="2492829" cy="1038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副標題 2">
            <a:extLst>
              <a:ext uri="{FF2B5EF4-FFF2-40B4-BE49-F238E27FC236}">
                <a16:creationId xmlns:a16="http://schemas.microsoft.com/office/drawing/2014/main" id="{60C433D3-20F5-9959-AD7F-1C637F9A9B5D}"/>
              </a:ext>
            </a:extLst>
          </p:cNvPr>
          <p:cNvSpPr txBox="1">
            <a:spLocks/>
          </p:cNvSpPr>
          <p:nvPr/>
        </p:nvSpPr>
        <p:spPr>
          <a:xfrm>
            <a:off x="3555024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副標題 2">
            <a:extLst>
              <a:ext uri="{FF2B5EF4-FFF2-40B4-BE49-F238E27FC236}">
                <a16:creationId xmlns:a16="http://schemas.microsoft.com/office/drawing/2014/main" id="{A07AC21D-88B2-93E3-88FD-C7A03DFFD191}"/>
              </a:ext>
            </a:extLst>
          </p:cNvPr>
          <p:cNvSpPr txBox="1">
            <a:spLocks/>
          </p:cNvSpPr>
          <p:nvPr/>
        </p:nvSpPr>
        <p:spPr>
          <a:xfrm>
            <a:off x="8193688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Convalescent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圖片 24" descr="一張含有 人員, 裙子, 牆, 迷你裙 的圖片&#10;&#10;自動產生的描述">
            <a:extLst>
              <a:ext uri="{FF2B5EF4-FFF2-40B4-BE49-F238E27FC236}">
                <a16:creationId xmlns:a16="http://schemas.microsoft.com/office/drawing/2014/main" id="{4DBD1610-71FD-DCE9-6D2D-C4C92E7EDE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6296" y="1861518"/>
            <a:ext cx="3089587" cy="3799114"/>
          </a:xfrm>
          <a:prstGeom prst="rect">
            <a:avLst/>
          </a:prstGeom>
        </p:spPr>
      </p:pic>
      <p:pic>
        <p:nvPicPr>
          <p:cNvPr id="3" name="圖片 2" descr="一張含有 人員, 服裝, 牆, 褲子 的圖片&#10;&#10;自動產生的描述">
            <a:extLst>
              <a:ext uri="{FF2B5EF4-FFF2-40B4-BE49-F238E27FC236}">
                <a16:creationId xmlns:a16="http://schemas.microsoft.com/office/drawing/2014/main" id="{4250A485-D6D8-EE4E-844F-528DB9796B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6102" y="1861518"/>
            <a:ext cx="2970660" cy="3819638"/>
          </a:xfrm>
          <a:prstGeom prst="rect">
            <a:avLst/>
          </a:prstGeom>
        </p:spPr>
      </p:pic>
      <p:sp>
        <p:nvSpPr>
          <p:cNvPr id="4" name="副標題 2">
            <a:extLst>
              <a:ext uri="{FF2B5EF4-FFF2-40B4-BE49-F238E27FC236}">
                <a16:creationId xmlns:a16="http://schemas.microsoft.com/office/drawing/2014/main" id="{2E80C3F3-6D9F-3318-2C9C-057099458D46}"/>
              </a:ext>
            </a:extLst>
          </p:cNvPr>
          <p:cNvSpPr txBox="1">
            <a:spLocks/>
          </p:cNvSpPr>
          <p:nvPr/>
        </p:nvSpPr>
        <p:spPr>
          <a:xfrm>
            <a:off x="-37452" y="2158603"/>
            <a:ext cx="3503443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Camera’s Position</a:t>
            </a:r>
          </a:p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Mentor    : Front</a:t>
            </a:r>
          </a:p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Convalescent : Right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副標題 2">
            <a:extLst>
              <a:ext uri="{FF2B5EF4-FFF2-40B4-BE49-F238E27FC236}">
                <a16:creationId xmlns:a16="http://schemas.microsoft.com/office/drawing/2014/main" id="{51193A82-CC18-8505-6AF2-6BC9A1BF7D3A}"/>
              </a:ext>
            </a:extLst>
          </p:cNvPr>
          <p:cNvSpPr txBox="1">
            <a:spLocks/>
          </p:cNvSpPr>
          <p:nvPr/>
        </p:nvSpPr>
        <p:spPr>
          <a:xfrm>
            <a:off x="391887" y="857485"/>
            <a:ext cx="11843946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2400" b="1" dirty="0"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Cameras of mentor and convalescent are placed in </a:t>
            </a:r>
            <a:r>
              <a:rPr lang="en-US" altLang="zh-TW" sz="2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DIFFERENT</a:t>
            </a:r>
            <a:r>
              <a:rPr lang="en-US" altLang="zh-TW" sz="2400" b="1" dirty="0"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 angle of view.</a:t>
            </a:r>
            <a:endParaRPr lang="zh-TW" altLang="en-US" sz="2400" b="1" dirty="0">
              <a:latin typeface="Times New Roman" panose="02020603050405020304" pitchFamily="18" charset="0"/>
              <a:ea typeface="HYGothic-Extra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7" name="副標題 2">
            <a:extLst>
              <a:ext uri="{FF2B5EF4-FFF2-40B4-BE49-F238E27FC236}">
                <a16:creationId xmlns:a16="http://schemas.microsoft.com/office/drawing/2014/main" id="{05E38C63-E10A-C22E-CBF4-7E715ABE2129}"/>
              </a:ext>
            </a:extLst>
          </p:cNvPr>
          <p:cNvSpPr txBox="1">
            <a:spLocks/>
          </p:cNvSpPr>
          <p:nvPr/>
        </p:nvSpPr>
        <p:spPr>
          <a:xfrm>
            <a:off x="115302" y="3966279"/>
            <a:ext cx="3779744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Spec: 30 FPS</a:t>
            </a:r>
          </a:p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Duration : 20 seconds</a:t>
            </a:r>
          </a:p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(freeze time excluded)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058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8689C9-28CD-D925-D149-4588FBCA4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B02835DA-44E2-FD6D-B13A-0B62D980D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302DCAD-169D-E830-EF14-EF35A96BC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B29EBE9-926A-7613-9B15-58C5A49A2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3C110F4-35E0-949E-23B9-D0F0AD5A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D505940-5A25-413F-00BD-F4A391465E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B913239-93EB-0A20-6B88-9B7AB2724F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5CCBBEBC-D90C-8D24-782F-8087EA7407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C6861AD-DDAD-14A5-9B5A-C3363F9E4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A8BA25B2-9E3A-FDF9-F9B4-926082E80B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247A6FF-BEA6-B4BC-2243-DB301BFFD5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FD6FC4A-BFCA-CF04-442F-7A0C6F97A3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EE322BE-CE89-979D-541C-7F046F88E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142" y="2854"/>
            <a:ext cx="2783421" cy="2406445"/>
            <a:chOff x="-305" y="-4155"/>
            <a:chExt cx="2514948" cy="2174333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5E95D99B-15E5-D5FE-17EB-71D625C24F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2728D6F9-FDE3-C89E-509C-D3E0B3EB27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13C808-7E3C-1ECC-C6D4-D02D7F451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2EEDC7EC-C855-C5C4-6B31-4325999105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3B689BC-6037-CF20-67A3-3FBA5B32F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417253" y="4456669"/>
            <a:ext cx="2783421" cy="2406445"/>
            <a:chOff x="-305" y="-4155"/>
            <a:chExt cx="2514948" cy="2174333"/>
          </a:xfrm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114AD905-8C30-C7B6-356E-490166EA98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B5678CBF-E49C-4748-4615-2857071A7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D4E01C56-BD7D-F8E6-E1B5-1BBEC79B99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A7FC326-2063-C430-ED98-31D671F5CD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標題 1">
            <a:extLst>
              <a:ext uri="{FF2B5EF4-FFF2-40B4-BE49-F238E27FC236}">
                <a16:creationId xmlns:a16="http://schemas.microsoft.com/office/drawing/2014/main" id="{356DA6D2-F753-35E3-2E8C-6F8AC7AA7DCF}"/>
              </a:ext>
            </a:extLst>
          </p:cNvPr>
          <p:cNvSpPr txBox="1">
            <a:spLocks/>
          </p:cNvSpPr>
          <p:nvPr/>
        </p:nvSpPr>
        <p:spPr>
          <a:xfrm>
            <a:off x="107569" y="-66896"/>
            <a:ext cx="2492829" cy="1038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副標題 2">
            <a:extLst>
              <a:ext uri="{FF2B5EF4-FFF2-40B4-BE49-F238E27FC236}">
                <a16:creationId xmlns:a16="http://schemas.microsoft.com/office/drawing/2014/main" id="{A798E7CD-7492-2CA0-C248-CDCB1D6CE046}"/>
              </a:ext>
            </a:extLst>
          </p:cNvPr>
          <p:cNvSpPr txBox="1">
            <a:spLocks/>
          </p:cNvSpPr>
          <p:nvPr/>
        </p:nvSpPr>
        <p:spPr>
          <a:xfrm>
            <a:off x="3555024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副標題 2">
            <a:extLst>
              <a:ext uri="{FF2B5EF4-FFF2-40B4-BE49-F238E27FC236}">
                <a16:creationId xmlns:a16="http://schemas.microsoft.com/office/drawing/2014/main" id="{C09F6904-0170-E22D-A533-9AA505AB9432}"/>
              </a:ext>
            </a:extLst>
          </p:cNvPr>
          <p:cNvSpPr txBox="1">
            <a:spLocks/>
          </p:cNvSpPr>
          <p:nvPr/>
        </p:nvSpPr>
        <p:spPr>
          <a:xfrm>
            <a:off x="8193688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Convalescent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圖片 24" descr="一張含有 人員, 裙子, 牆, 迷你裙 的圖片&#10;&#10;自動產生的描述">
            <a:extLst>
              <a:ext uri="{FF2B5EF4-FFF2-40B4-BE49-F238E27FC236}">
                <a16:creationId xmlns:a16="http://schemas.microsoft.com/office/drawing/2014/main" id="{1D03BFEA-14A8-7A4F-52CE-EFAD7F9EBE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6296" y="1861518"/>
            <a:ext cx="3089587" cy="3799114"/>
          </a:xfrm>
          <a:prstGeom prst="rect">
            <a:avLst/>
          </a:prstGeom>
        </p:spPr>
      </p:pic>
      <p:pic>
        <p:nvPicPr>
          <p:cNvPr id="4" name="圖片 3" descr="一張含有 人員, 足部穿著, 牆, 服裝 的圖片&#10;&#10;自動產生的描述">
            <a:extLst>
              <a:ext uri="{FF2B5EF4-FFF2-40B4-BE49-F238E27FC236}">
                <a16:creationId xmlns:a16="http://schemas.microsoft.com/office/drawing/2014/main" id="{22FD6CB5-05D0-7D67-6720-16E46C07D5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29" y="1861519"/>
            <a:ext cx="3123896" cy="3799114"/>
          </a:xfrm>
          <a:prstGeom prst="rect">
            <a:avLst/>
          </a:prstGeom>
        </p:spPr>
      </p:pic>
      <p:sp>
        <p:nvSpPr>
          <p:cNvPr id="3" name="副標題 2">
            <a:extLst>
              <a:ext uri="{FF2B5EF4-FFF2-40B4-BE49-F238E27FC236}">
                <a16:creationId xmlns:a16="http://schemas.microsoft.com/office/drawing/2014/main" id="{71E36A2F-6636-C5A2-8BBD-C09799B9D755}"/>
              </a:ext>
            </a:extLst>
          </p:cNvPr>
          <p:cNvSpPr txBox="1">
            <a:spLocks/>
          </p:cNvSpPr>
          <p:nvPr/>
        </p:nvSpPr>
        <p:spPr>
          <a:xfrm>
            <a:off x="-37452" y="2158603"/>
            <a:ext cx="3503443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Camera’s Position</a:t>
            </a:r>
          </a:p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Mentor     : Front</a:t>
            </a:r>
          </a:p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Convalescent  :  Left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副標題 2">
            <a:extLst>
              <a:ext uri="{FF2B5EF4-FFF2-40B4-BE49-F238E27FC236}">
                <a16:creationId xmlns:a16="http://schemas.microsoft.com/office/drawing/2014/main" id="{43E1F3DA-5DE2-A688-B4BB-0FD7FD18A110}"/>
              </a:ext>
            </a:extLst>
          </p:cNvPr>
          <p:cNvSpPr txBox="1">
            <a:spLocks/>
          </p:cNvSpPr>
          <p:nvPr/>
        </p:nvSpPr>
        <p:spPr>
          <a:xfrm>
            <a:off x="413657" y="857485"/>
            <a:ext cx="11822175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2400" b="1" dirty="0"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Cameras of mentor and convalescent are placed in </a:t>
            </a:r>
            <a:r>
              <a:rPr lang="en-US" altLang="zh-TW" sz="2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DIFFERENT</a:t>
            </a:r>
            <a:r>
              <a:rPr lang="en-US" altLang="zh-TW" sz="2400" b="1" dirty="0"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 angle of view.</a:t>
            </a:r>
            <a:endParaRPr lang="zh-TW" altLang="en-US" sz="2400" b="1" dirty="0">
              <a:latin typeface="Times New Roman" panose="02020603050405020304" pitchFamily="18" charset="0"/>
              <a:ea typeface="HYGothic-Extra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7" name="副標題 2">
            <a:extLst>
              <a:ext uri="{FF2B5EF4-FFF2-40B4-BE49-F238E27FC236}">
                <a16:creationId xmlns:a16="http://schemas.microsoft.com/office/drawing/2014/main" id="{D05428E7-BDED-B1AA-9825-A0ABD3C6C2C1}"/>
              </a:ext>
            </a:extLst>
          </p:cNvPr>
          <p:cNvSpPr txBox="1">
            <a:spLocks/>
          </p:cNvSpPr>
          <p:nvPr/>
        </p:nvSpPr>
        <p:spPr>
          <a:xfrm>
            <a:off x="115302" y="3966279"/>
            <a:ext cx="3779744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Spec: 30 FPS</a:t>
            </a:r>
          </a:p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Duration : 20 seconds</a:t>
            </a:r>
          </a:p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(freeze time excluded)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834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3118FE-ED2B-5851-8A19-5965440BD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FB921B9D-8BFB-3C0B-196D-0E6671DD3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29B6F8F-288B-DD22-8A98-DA376CEA2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3C8977DE-055B-A07C-61F9-43BCDAF7B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6A3B05B-F774-3DEA-CBA7-591FD272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6F28832-531A-6238-FF49-FDB93A5E7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E2360FA8-C3CD-6E7F-0B0A-BA83132F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1775834-926E-4A30-1A7E-46D5D755A6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F0D8E1C-CB46-60C8-22EF-CF5834B2A2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79039808-8902-91C3-9748-BC1888972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A733ED7-CC93-4A8C-E2F4-C9F84A5EC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78276BC5-517A-0614-92B4-C2B0A70BD3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590FFE4-575A-C4BB-DBCB-B79C8F07E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142" y="2854"/>
            <a:ext cx="2783421" cy="2406445"/>
            <a:chOff x="-305" y="-4155"/>
            <a:chExt cx="2514948" cy="2174333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F9933F29-0EAC-539D-2454-C30523AA9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CE3D181-0D03-BCB0-F02D-BD7413099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59D084F-4CF8-2B45-19A4-8CE03149C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86D06B28-8F28-9C81-1FA8-7877377850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C31C84E3-066A-70CB-B78A-AD1F20E16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417253" y="4456669"/>
            <a:ext cx="2783421" cy="2406445"/>
            <a:chOff x="-305" y="-4155"/>
            <a:chExt cx="2514948" cy="2174333"/>
          </a:xfrm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1ABE98B2-7E39-5500-9F4D-21071CE87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C5CAE97-1A4A-5A2D-9AA4-28270DF93D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BEC47C5C-930B-A51A-61EE-5EBD0F58D7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95054A37-BE01-F102-DC84-99C54BD0C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9" name="標題 1">
            <a:extLst>
              <a:ext uri="{FF2B5EF4-FFF2-40B4-BE49-F238E27FC236}">
                <a16:creationId xmlns:a16="http://schemas.microsoft.com/office/drawing/2014/main" id="{4577E4FF-6120-F16E-6FF0-7CAE36D0388F}"/>
              </a:ext>
            </a:extLst>
          </p:cNvPr>
          <p:cNvSpPr txBox="1">
            <a:spLocks/>
          </p:cNvSpPr>
          <p:nvPr/>
        </p:nvSpPr>
        <p:spPr>
          <a:xfrm>
            <a:off x="107569" y="-66896"/>
            <a:ext cx="11052518" cy="1038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Part</a:t>
            </a:r>
            <a:r>
              <a:rPr lang="en-US" altLang="zh-TW" dirty="0">
                <a:solidFill>
                  <a:prstClr val="black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4: </a:t>
            </a:r>
            <a:r>
              <a:rPr lang="en-US" altLang="zh-TW" sz="3900" dirty="0">
                <a:solidFill>
                  <a:prstClr val="black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Robustness Study Under Challenging Conditions </a:t>
            </a: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3" name="副標題 2">
            <a:extLst>
              <a:ext uri="{FF2B5EF4-FFF2-40B4-BE49-F238E27FC236}">
                <a16:creationId xmlns:a16="http://schemas.microsoft.com/office/drawing/2014/main" id="{19B28D2A-9FC8-6035-1473-77E62FE84264}"/>
              </a:ext>
            </a:extLst>
          </p:cNvPr>
          <p:cNvSpPr txBox="1">
            <a:spLocks/>
          </p:cNvSpPr>
          <p:nvPr/>
        </p:nvSpPr>
        <p:spPr>
          <a:xfrm>
            <a:off x="4222353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Mentor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4" name="副標題 2">
            <a:extLst>
              <a:ext uri="{FF2B5EF4-FFF2-40B4-BE49-F238E27FC236}">
                <a16:creationId xmlns:a16="http://schemas.microsoft.com/office/drawing/2014/main" id="{B27442E6-001E-56C5-0450-7C4CFF507C60}"/>
              </a:ext>
            </a:extLst>
          </p:cNvPr>
          <p:cNvSpPr txBox="1">
            <a:spLocks/>
          </p:cNvSpPr>
          <p:nvPr/>
        </p:nvSpPr>
        <p:spPr>
          <a:xfrm>
            <a:off x="8193688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Convalescent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pic>
        <p:nvPicPr>
          <p:cNvPr id="25" name="圖片 24" descr="一張含有 人員, 裙子, 牆, 迷你裙 的圖片&#10;&#10;自動產生的描述">
            <a:extLst>
              <a:ext uri="{FF2B5EF4-FFF2-40B4-BE49-F238E27FC236}">
                <a16:creationId xmlns:a16="http://schemas.microsoft.com/office/drawing/2014/main" id="{6A46EB5A-7177-AFFE-31EE-A30B0ABE17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625" y="1861518"/>
            <a:ext cx="3089587" cy="3799114"/>
          </a:xfrm>
          <a:prstGeom prst="rect">
            <a:avLst/>
          </a:prstGeom>
        </p:spPr>
      </p:pic>
      <p:sp>
        <p:nvSpPr>
          <p:cNvPr id="3" name="副標題 2">
            <a:extLst>
              <a:ext uri="{FF2B5EF4-FFF2-40B4-BE49-F238E27FC236}">
                <a16:creationId xmlns:a16="http://schemas.microsoft.com/office/drawing/2014/main" id="{6A190481-BE4D-453A-5843-C8F4844E2304}"/>
              </a:ext>
            </a:extLst>
          </p:cNvPr>
          <p:cNvSpPr txBox="1">
            <a:spLocks/>
          </p:cNvSpPr>
          <p:nvPr/>
        </p:nvSpPr>
        <p:spPr>
          <a:xfrm>
            <a:off x="-37452" y="2158603"/>
            <a:ext cx="3503443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Camera’s Position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      Mentor     : Front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Convalescent  :  Left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副標題 2">
            <a:extLst>
              <a:ext uri="{FF2B5EF4-FFF2-40B4-BE49-F238E27FC236}">
                <a16:creationId xmlns:a16="http://schemas.microsoft.com/office/drawing/2014/main" id="{BB3270F8-1A62-9338-24E4-C8CF39ED1EAE}"/>
              </a:ext>
            </a:extLst>
          </p:cNvPr>
          <p:cNvSpPr txBox="1">
            <a:spLocks/>
          </p:cNvSpPr>
          <p:nvPr/>
        </p:nvSpPr>
        <p:spPr>
          <a:xfrm>
            <a:off x="1648214" y="879113"/>
            <a:ext cx="11822175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Cameras of convalescent is placed in </a:t>
            </a:r>
            <a:r>
              <a:rPr kumimoji="0" lang="en-US" altLang="zh-TW" sz="2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FLOOR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 angle of view.</a:t>
            </a:r>
            <a:endParaRPr kumimoji="0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HYGothic-Extra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7" name="副標題 2">
            <a:extLst>
              <a:ext uri="{FF2B5EF4-FFF2-40B4-BE49-F238E27FC236}">
                <a16:creationId xmlns:a16="http://schemas.microsoft.com/office/drawing/2014/main" id="{12636E2B-C574-BD9E-C1A4-796BF75C131B}"/>
              </a:ext>
            </a:extLst>
          </p:cNvPr>
          <p:cNvSpPr txBox="1">
            <a:spLocks/>
          </p:cNvSpPr>
          <p:nvPr/>
        </p:nvSpPr>
        <p:spPr>
          <a:xfrm>
            <a:off x="203967" y="4047541"/>
            <a:ext cx="4522269" cy="210437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Video Spec: 30 FPS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  Duration :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               Mentor: 20 seconds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               Convalescent: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38</a:t>
            </a:r>
            <a:r>
              <a:rPr kumimoji="0" lang="en-US" altLang="zh-TW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seconds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  (freeze time excluded)</a:t>
            </a:r>
            <a:endParaRPr kumimoji="0" lang="zh-TW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 descr="一張含有 足部穿著, 服裝, 牆, 人員 的圖片&#10;&#10;AI 產生的內容可能不正確。">
            <a:extLst>
              <a:ext uri="{FF2B5EF4-FFF2-40B4-BE49-F238E27FC236}">
                <a16:creationId xmlns:a16="http://schemas.microsoft.com/office/drawing/2014/main" id="{6FBCFAB2-8606-8BA9-B0FB-36D9505845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67" b="19907"/>
          <a:stretch/>
        </p:blipFill>
        <p:spPr>
          <a:xfrm>
            <a:off x="8491301" y="1861518"/>
            <a:ext cx="3089587" cy="3799114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CE206345-08E7-37BF-D85B-63ACC8371172}"/>
              </a:ext>
            </a:extLst>
          </p:cNvPr>
          <p:cNvSpPr txBox="1"/>
          <p:nvPr/>
        </p:nvSpPr>
        <p:spPr>
          <a:xfrm>
            <a:off x="2885941" y="5901215"/>
            <a:ext cx="94019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abnormal convalescent behavior: </a:t>
            </a:r>
            <a:r>
              <a:rPr kumimoji="1" lang="en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slow-paced execution</a:t>
            </a:r>
          </a:p>
          <a:p>
            <a:pPr algn="ctr"/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The convalescent performs every movement at half the mentor’s speed. )</a:t>
            </a:r>
            <a:r>
              <a:rPr kumimoji="1" lang="en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zh-TW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286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9AD6F1-DF4B-C623-F105-903EBE97E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4222FA1-8262-F62B-CD12-9FC572052D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F33BC6-0ED6-7A36-F32C-DE5ED6F61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3C9A27BB-9AF3-9C46-EE5E-053CA8004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F30927F-D7E1-C049-B55A-D72EAFB0D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C1D70E-95CD-727D-1388-414A8192C1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E0064727-498A-B4FE-8F36-0300BA2BA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DB12B9D-506C-7A61-201D-06B6C433A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373774E-C43E-9F70-CE27-98E764E2F5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2E86E648-BE95-0980-FE74-34182FC2D2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C4ADEB96-570A-8EC8-17B4-FD273F1AC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EA965D2-11ED-9151-D4C8-74BE08B882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0DD4780-038F-46CA-A3A4-A79DB1302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142" y="2854"/>
            <a:ext cx="2783421" cy="2406445"/>
            <a:chOff x="-305" y="-4155"/>
            <a:chExt cx="2514948" cy="2174333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0BEF8F9-31A0-D478-1D2D-45E1A55B16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B0F5876-3455-AD19-0769-9AE328B338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27446FC-D347-F231-BDEB-89420F12E2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243E124D-EDFA-31B6-E5E5-E63A2849AE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C1A0903A-0B6F-8150-B522-52B6ACD86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417253" y="4456669"/>
            <a:ext cx="2783421" cy="2406445"/>
            <a:chOff x="-305" y="-4155"/>
            <a:chExt cx="2514948" cy="2174333"/>
          </a:xfrm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185FEBE7-D286-B003-2954-972ACEDEF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F6728DEA-9BB6-7A4C-93D6-CE2F5F239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05E77F9B-928E-B0BE-A60C-35216D200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F99DB722-AC78-516B-262C-E72A37C13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9" name="標題 1">
            <a:extLst>
              <a:ext uri="{FF2B5EF4-FFF2-40B4-BE49-F238E27FC236}">
                <a16:creationId xmlns:a16="http://schemas.microsoft.com/office/drawing/2014/main" id="{07F6A180-5D53-A1A8-1473-1566E304D6C9}"/>
              </a:ext>
            </a:extLst>
          </p:cNvPr>
          <p:cNvSpPr txBox="1">
            <a:spLocks/>
          </p:cNvSpPr>
          <p:nvPr/>
        </p:nvSpPr>
        <p:spPr>
          <a:xfrm>
            <a:off x="107569" y="-66896"/>
            <a:ext cx="11052518" cy="1038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Part5: </a:t>
            </a:r>
            <a:r>
              <a:rPr kumimoji="0" lang="en-US" altLang="zh-TW" sz="3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Robustness Study Under Challenging Conditions </a:t>
            </a: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3" name="副標題 2">
            <a:extLst>
              <a:ext uri="{FF2B5EF4-FFF2-40B4-BE49-F238E27FC236}">
                <a16:creationId xmlns:a16="http://schemas.microsoft.com/office/drawing/2014/main" id="{5F395ED9-073F-5EB4-B256-249651CACA27}"/>
              </a:ext>
            </a:extLst>
          </p:cNvPr>
          <p:cNvSpPr txBox="1">
            <a:spLocks/>
          </p:cNvSpPr>
          <p:nvPr/>
        </p:nvSpPr>
        <p:spPr>
          <a:xfrm>
            <a:off x="4222353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Mentor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4" name="副標題 2">
            <a:extLst>
              <a:ext uri="{FF2B5EF4-FFF2-40B4-BE49-F238E27FC236}">
                <a16:creationId xmlns:a16="http://schemas.microsoft.com/office/drawing/2014/main" id="{514AF29A-BF0E-10A3-65E2-F83A7591A04D}"/>
              </a:ext>
            </a:extLst>
          </p:cNvPr>
          <p:cNvSpPr txBox="1">
            <a:spLocks/>
          </p:cNvSpPr>
          <p:nvPr/>
        </p:nvSpPr>
        <p:spPr>
          <a:xfrm>
            <a:off x="8193688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Convalescent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pic>
        <p:nvPicPr>
          <p:cNvPr id="25" name="圖片 24" descr="一張含有 人員, 裙子, 牆, 迷你裙 的圖片&#10;&#10;自動產生的描述">
            <a:extLst>
              <a:ext uri="{FF2B5EF4-FFF2-40B4-BE49-F238E27FC236}">
                <a16:creationId xmlns:a16="http://schemas.microsoft.com/office/drawing/2014/main" id="{D4F436DB-59AE-43A4-246D-842F1576BE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625" y="1861518"/>
            <a:ext cx="3089587" cy="3799114"/>
          </a:xfrm>
          <a:prstGeom prst="rect">
            <a:avLst/>
          </a:prstGeom>
        </p:spPr>
      </p:pic>
      <p:sp>
        <p:nvSpPr>
          <p:cNvPr id="3" name="副標題 2">
            <a:extLst>
              <a:ext uri="{FF2B5EF4-FFF2-40B4-BE49-F238E27FC236}">
                <a16:creationId xmlns:a16="http://schemas.microsoft.com/office/drawing/2014/main" id="{6E92D4B4-04B5-684A-7E2B-76463C93ABBD}"/>
              </a:ext>
            </a:extLst>
          </p:cNvPr>
          <p:cNvSpPr txBox="1">
            <a:spLocks/>
          </p:cNvSpPr>
          <p:nvPr/>
        </p:nvSpPr>
        <p:spPr>
          <a:xfrm>
            <a:off x="-37452" y="2158603"/>
            <a:ext cx="3503443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Camera’s Position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      Mentor     : Front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Convalescent  :  Left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副標題 2">
            <a:extLst>
              <a:ext uri="{FF2B5EF4-FFF2-40B4-BE49-F238E27FC236}">
                <a16:creationId xmlns:a16="http://schemas.microsoft.com/office/drawing/2014/main" id="{759F4A61-139A-4918-6105-A87D08679FBC}"/>
              </a:ext>
            </a:extLst>
          </p:cNvPr>
          <p:cNvSpPr txBox="1">
            <a:spLocks/>
          </p:cNvSpPr>
          <p:nvPr/>
        </p:nvSpPr>
        <p:spPr>
          <a:xfrm>
            <a:off x="1648214" y="879113"/>
            <a:ext cx="11822175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Cameras of convalescent is placed in </a:t>
            </a:r>
            <a:r>
              <a:rPr kumimoji="0" lang="en-US" altLang="zh-TW" sz="2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FLOOR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 angle of view.</a:t>
            </a:r>
            <a:endParaRPr kumimoji="0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HYGothic-Extra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249C0B6-9D47-05A8-5E60-D709CB60D718}"/>
              </a:ext>
            </a:extLst>
          </p:cNvPr>
          <p:cNvSpPr txBox="1"/>
          <p:nvPr/>
        </p:nvSpPr>
        <p:spPr>
          <a:xfrm>
            <a:off x="4184266" y="5879189"/>
            <a:ext cx="78013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Simulate abnormal convalescent behavior: </a:t>
            </a:r>
            <a:r>
              <a:rPr kumimoji="1" lang="en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lack of actions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The convalescent lacks 1 action in each set of movements. )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 descr="一張含有 人員, 牆, 足部穿著, 服裝 的圖片&#10;&#10;AI 產生的內容可能不正確。">
            <a:extLst>
              <a:ext uri="{FF2B5EF4-FFF2-40B4-BE49-F238E27FC236}">
                <a16:creationId xmlns:a16="http://schemas.microsoft.com/office/drawing/2014/main" id="{778AFC62-AA65-288F-4CB1-1B3E59873E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39" b="19456"/>
          <a:stretch/>
        </p:blipFill>
        <p:spPr>
          <a:xfrm>
            <a:off x="8493859" y="1861518"/>
            <a:ext cx="3084472" cy="3799114"/>
          </a:xfrm>
          <a:prstGeom prst="rect">
            <a:avLst/>
          </a:prstGeom>
        </p:spPr>
      </p:pic>
      <p:sp>
        <p:nvSpPr>
          <p:cNvPr id="9" name="副標題 2">
            <a:extLst>
              <a:ext uri="{FF2B5EF4-FFF2-40B4-BE49-F238E27FC236}">
                <a16:creationId xmlns:a16="http://schemas.microsoft.com/office/drawing/2014/main" id="{087C7B26-89BB-126B-89CB-1CAFF91624C0}"/>
              </a:ext>
            </a:extLst>
          </p:cNvPr>
          <p:cNvSpPr txBox="1">
            <a:spLocks/>
          </p:cNvSpPr>
          <p:nvPr/>
        </p:nvSpPr>
        <p:spPr>
          <a:xfrm>
            <a:off x="115302" y="3966279"/>
            <a:ext cx="3779744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Spec: 30 FPS</a:t>
            </a:r>
          </a:p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Duration : 20 seconds</a:t>
            </a:r>
          </a:p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(freeze time excluded)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186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1F06B9-7881-C743-A4F5-9882F1F33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46EAF5C9-017D-8A38-AFC5-AC96970B1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CDDD3A7-594B-6803-9D8D-16D7FAD97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4373C244-47D3-4B16-51AD-0631EE936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E7BCCC7-7442-95F9-994B-8D34FA1F5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D09AC611-752E-31E4-D2A6-68F2FA7425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671CBAB-DA92-7C4C-B7EC-AC357AB0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EDE3F8B-BE7F-E2A1-572C-224C99C34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FFDD2B4-EAA5-1430-8642-E84561231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00801CF2-4448-5E2D-B78D-8EF9018C60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621BF7D-6827-62B1-E9F4-C2DA20B95A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244EB26-F16C-7027-C3E7-80099B0522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7C7DEB9-316B-C79C-D8F0-F849C0B11E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142" y="2854"/>
            <a:ext cx="2783421" cy="2406445"/>
            <a:chOff x="-305" y="-4155"/>
            <a:chExt cx="2514948" cy="2174333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BC2792A-C400-24DF-53E3-6E4A9C2B4C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9B82E208-0403-3031-646D-8BD8B83EC1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0816EDE-6F81-F439-499B-1976866ADF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DA4FD65-A3E3-AAF2-A630-B9BCCE7A33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079D9B8-B460-9430-F502-9EF37C3A2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417253" y="4456669"/>
            <a:ext cx="2783421" cy="2406445"/>
            <a:chOff x="-305" y="-4155"/>
            <a:chExt cx="2514948" cy="2174333"/>
          </a:xfrm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3D29855-2815-B769-7DA8-DBB3ED3C5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3CD49486-0D06-9ED7-776B-1007AFA6D1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0E19FF2D-3A76-FB84-DF64-8665BA347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1ADE2945-52D5-591C-A64A-464408E278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9" name="標題 1">
            <a:extLst>
              <a:ext uri="{FF2B5EF4-FFF2-40B4-BE49-F238E27FC236}">
                <a16:creationId xmlns:a16="http://schemas.microsoft.com/office/drawing/2014/main" id="{4F7B3454-6F24-173A-CE12-32BE837F8885}"/>
              </a:ext>
            </a:extLst>
          </p:cNvPr>
          <p:cNvSpPr txBox="1">
            <a:spLocks/>
          </p:cNvSpPr>
          <p:nvPr/>
        </p:nvSpPr>
        <p:spPr>
          <a:xfrm>
            <a:off x="107569" y="-66896"/>
            <a:ext cx="11052518" cy="1038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Part6: </a:t>
            </a:r>
            <a:r>
              <a:rPr kumimoji="0" lang="en-US" altLang="zh-TW" sz="3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Robustness Study Under Challenging Conditions </a:t>
            </a: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3" name="副標題 2">
            <a:extLst>
              <a:ext uri="{FF2B5EF4-FFF2-40B4-BE49-F238E27FC236}">
                <a16:creationId xmlns:a16="http://schemas.microsoft.com/office/drawing/2014/main" id="{7CA51595-34D6-41CF-A6AB-C912E0E4A430}"/>
              </a:ext>
            </a:extLst>
          </p:cNvPr>
          <p:cNvSpPr txBox="1">
            <a:spLocks/>
          </p:cNvSpPr>
          <p:nvPr/>
        </p:nvSpPr>
        <p:spPr>
          <a:xfrm>
            <a:off x="4222353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Mentor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4" name="副標題 2">
            <a:extLst>
              <a:ext uri="{FF2B5EF4-FFF2-40B4-BE49-F238E27FC236}">
                <a16:creationId xmlns:a16="http://schemas.microsoft.com/office/drawing/2014/main" id="{9A2916EF-D623-DD3C-24E3-E3DE73EDFB74}"/>
              </a:ext>
            </a:extLst>
          </p:cNvPr>
          <p:cNvSpPr txBox="1">
            <a:spLocks/>
          </p:cNvSpPr>
          <p:nvPr/>
        </p:nvSpPr>
        <p:spPr>
          <a:xfrm>
            <a:off x="8193688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Convalescent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pic>
        <p:nvPicPr>
          <p:cNvPr id="25" name="圖片 24" descr="一張含有 人員, 裙子, 牆, 迷你裙 的圖片&#10;&#10;自動產生的描述">
            <a:extLst>
              <a:ext uri="{FF2B5EF4-FFF2-40B4-BE49-F238E27FC236}">
                <a16:creationId xmlns:a16="http://schemas.microsoft.com/office/drawing/2014/main" id="{F55F47B9-BC9C-7ED4-A66C-E372B24D42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625" y="1861518"/>
            <a:ext cx="3089587" cy="3799114"/>
          </a:xfrm>
          <a:prstGeom prst="rect">
            <a:avLst/>
          </a:prstGeom>
        </p:spPr>
      </p:pic>
      <p:sp>
        <p:nvSpPr>
          <p:cNvPr id="3" name="副標題 2">
            <a:extLst>
              <a:ext uri="{FF2B5EF4-FFF2-40B4-BE49-F238E27FC236}">
                <a16:creationId xmlns:a16="http://schemas.microsoft.com/office/drawing/2014/main" id="{2816171C-ACC7-E52A-121D-DB64C081D5D0}"/>
              </a:ext>
            </a:extLst>
          </p:cNvPr>
          <p:cNvSpPr txBox="1">
            <a:spLocks/>
          </p:cNvSpPr>
          <p:nvPr/>
        </p:nvSpPr>
        <p:spPr>
          <a:xfrm>
            <a:off x="-37452" y="2158603"/>
            <a:ext cx="3503443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Camera’s Position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      Mentor     : Front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Convalescent  :  Left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副標題 2">
            <a:extLst>
              <a:ext uri="{FF2B5EF4-FFF2-40B4-BE49-F238E27FC236}">
                <a16:creationId xmlns:a16="http://schemas.microsoft.com/office/drawing/2014/main" id="{30D16066-8CE5-F51C-B338-BA9D0F039EEE}"/>
              </a:ext>
            </a:extLst>
          </p:cNvPr>
          <p:cNvSpPr txBox="1">
            <a:spLocks/>
          </p:cNvSpPr>
          <p:nvPr/>
        </p:nvSpPr>
        <p:spPr>
          <a:xfrm>
            <a:off x="1648214" y="879113"/>
            <a:ext cx="11822175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Cameras of convalescent is placed in </a:t>
            </a:r>
            <a:r>
              <a:rPr kumimoji="0" lang="en-US" altLang="zh-TW" sz="2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FLOOR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 angle of view.</a:t>
            </a:r>
            <a:endParaRPr kumimoji="0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HYGothic-Extra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20A76CA-0C95-51FB-6BEB-F3F40366ED20}"/>
              </a:ext>
            </a:extLst>
          </p:cNvPr>
          <p:cNvSpPr txBox="1"/>
          <p:nvPr/>
        </p:nvSpPr>
        <p:spPr>
          <a:xfrm>
            <a:off x="2247817" y="5959527"/>
            <a:ext cx="10015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Simulate abnormal convalescent behavior: </a:t>
            </a:r>
            <a:r>
              <a:rPr kumimoji="1" lang="en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redundant</a:t>
            </a:r>
            <a:r>
              <a:rPr kumimoji="1" lang="en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actions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( The convalescent performs 1 extra action in the first two sets of movements. )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" name="副標題 2">
            <a:extLst>
              <a:ext uri="{FF2B5EF4-FFF2-40B4-BE49-F238E27FC236}">
                <a16:creationId xmlns:a16="http://schemas.microsoft.com/office/drawing/2014/main" id="{CEA0CC6B-6137-F9FF-8666-4FEB96CC06ED}"/>
              </a:ext>
            </a:extLst>
          </p:cNvPr>
          <p:cNvSpPr txBox="1">
            <a:spLocks/>
          </p:cNvSpPr>
          <p:nvPr/>
        </p:nvSpPr>
        <p:spPr>
          <a:xfrm>
            <a:off x="203968" y="4047541"/>
            <a:ext cx="4357546" cy="203423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Video Spec: 30 FPS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  Duration :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               Mentor: 20 seconds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               Convalescent: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35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seconds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  (freeze time excluded)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pic>
        <p:nvPicPr>
          <p:cNvPr id="7" name="圖片 6" descr="一張含有 體育, 足部穿著, 牆, 人員 的圖片&#10;&#10;AI 產生的內容可能不正確。">
            <a:extLst>
              <a:ext uri="{FF2B5EF4-FFF2-40B4-BE49-F238E27FC236}">
                <a16:creationId xmlns:a16="http://schemas.microsoft.com/office/drawing/2014/main" id="{74A3B82F-92AB-2BCD-2D5C-9B3B5851CE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32" b="14942"/>
          <a:stretch/>
        </p:blipFill>
        <p:spPr>
          <a:xfrm>
            <a:off x="8492472" y="1861518"/>
            <a:ext cx="3090479" cy="379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293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780C50-47EF-2094-ECB6-005E28AC7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8CA28C9F-4FAC-EF2A-D085-03CF0FAE2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E4C6A0B-61CA-1AEC-3C0F-10219C76F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AB2B8F4-2CA8-8440-1289-9C9E73C17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DAAF382-4272-93D6-1DC3-C4FA84A5C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5882E65-D103-9C8B-9DC7-8EDCDE0D86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3A2A5D2C-33C9-ECA9-65E3-B551BFB387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CD3174D3-0B38-5860-DF36-12B2D4FB4C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E2F4DBF-9046-18D2-4D0C-1790D310E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0146C717-502E-1079-DBFF-46F75EC7F0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64E7B30-02A3-2365-9614-D3FD36DAB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70EB28C-4927-3A38-6649-402F093AB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17DA9CF-87C8-FCA3-B42D-199D8AD88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142" y="2854"/>
            <a:ext cx="2783421" cy="2406445"/>
            <a:chOff x="-305" y="-4155"/>
            <a:chExt cx="2514948" cy="2174333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C60FCA7-A056-63D1-E3A1-9C39DBEDEB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24FA3021-149A-CC26-EF15-43B7C4476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5A76EAC-5F23-00FB-2D1E-2E36D2288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F8F881B-FF82-2649-2430-9A17784E29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88F43CE-C624-5754-EC8E-E15CE88D0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417253" y="4456669"/>
            <a:ext cx="2783421" cy="2406445"/>
            <a:chOff x="-305" y="-4155"/>
            <a:chExt cx="2514948" cy="2174333"/>
          </a:xfrm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D88427A5-7EAB-6F40-1E77-655D73C52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9ABE28F-5E0C-7F4A-FAB7-C82F96327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CC67939B-DF2C-14DB-2F2C-18F9EB1E9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8799B6C8-3B9B-1219-A54C-B94C880DB6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9" name="標題 1">
            <a:extLst>
              <a:ext uri="{FF2B5EF4-FFF2-40B4-BE49-F238E27FC236}">
                <a16:creationId xmlns:a16="http://schemas.microsoft.com/office/drawing/2014/main" id="{F864C8A4-1687-2D48-C885-9420C5C90E54}"/>
              </a:ext>
            </a:extLst>
          </p:cNvPr>
          <p:cNvSpPr txBox="1">
            <a:spLocks/>
          </p:cNvSpPr>
          <p:nvPr/>
        </p:nvSpPr>
        <p:spPr>
          <a:xfrm>
            <a:off x="107569" y="-66896"/>
            <a:ext cx="11052518" cy="1038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Part7: </a:t>
            </a:r>
            <a:r>
              <a:rPr kumimoji="0" lang="en-US" altLang="zh-TW" sz="3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Robustness Study Under Challenging Conditions </a:t>
            </a: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3" name="副標題 2">
            <a:extLst>
              <a:ext uri="{FF2B5EF4-FFF2-40B4-BE49-F238E27FC236}">
                <a16:creationId xmlns:a16="http://schemas.microsoft.com/office/drawing/2014/main" id="{9E699C2B-F466-F9A3-6035-FFF8D0F2168E}"/>
              </a:ext>
            </a:extLst>
          </p:cNvPr>
          <p:cNvSpPr txBox="1">
            <a:spLocks/>
          </p:cNvSpPr>
          <p:nvPr/>
        </p:nvSpPr>
        <p:spPr>
          <a:xfrm>
            <a:off x="4222353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Mentor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4" name="副標題 2">
            <a:extLst>
              <a:ext uri="{FF2B5EF4-FFF2-40B4-BE49-F238E27FC236}">
                <a16:creationId xmlns:a16="http://schemas.microsoft.com/office/drawing/2014/main" id="{01151948-0F40-11D0-B44D-19F2CC14E20C}"/>
              </a:ext>
            </a:extLst>
          </p:cNvPr>
          <p:cNvSpPr txBox="1">
            <a:spLocks/>
          </p:cNvSpPr>
          <p:nvPr/>
        </p:nvSpPr>
        <p:spPr>
          <a:xfrm>
            <a:off x="8193688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Convalescent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pic>
        <p:nvPicPr>
          <p:cNvPr id="25" name="圖片 24" descr="一張含有 人員, 裙子, 牆, 迷你裙 的圖片&#10;&#10;自動產生的描述">
            <a:extLst>
              <a:ext uri="{FF2B5EF4-FFF2-40B4-BE49-F238E27FC236}">
                <a16:creationId xmlns:a16="http://schemas.microsoft.com/office/drawing/2014/main" id="{8460ABDF-5CF2-42A4-9953-60EA95CE0D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625" y="1861518"/>
            <a:ext cx="3089587" cy="3799114"/>
          </a:xfrm>
          <a:prstGeom prst="rect">
            <a:avLst/>
          </a:prstGeom>
        </p:spPr>
      </p:pic>
      <p:sp>
        <p:nvSpPr>
          <p:cNvPr id="3" name="副標題 2">
            <a:extLst>
              <a:ext uri="{FF2B5EF4-FFF2-40B4-BE49-F238E27FC236}">
                <a16:creationId xmlns:a16="http://schemas.microsoft.com/office/drawing/2014/main" id="{2ACBC213-F1BE-6568-76FB-410D5F19EE77}"/>
              </a:ext>
            </a:extLst>
          </p:cNvPr>
          <p:cNvSpPr txBox="1">
            <a:spLocks/>
          </p:cNvSpPr>
          <p:nvPr/>
        </p:nvSpPr>
        <p:spPr>
          <a:xfrm>
            <a:off x="-37452" y="2158603"/>
            <a:ext cx="3503443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Camera’s Position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      Mentor     : Front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Convalescent  :  Left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副標題 2">
            <a:extLst>
              <a:ext uri="{FF2B5EF4-FFF2-40B4-BE49-F238E27FC236}">
                <a16:creationId xmlns:a16="http://schemas.microsoft.com/office/drawing/2014/main" id="{F8699C39-BB96-3B94-E6EF-641EB20CC6F0}"/>
              </a:ext>
            </a:extLst>
          </p:cNvPr>
          <p:cNvSpPr txBox="1">
            <a:spLocks/>
          </p:cNvSpPr>
          <p:nvPr/>
        </p:nvSpPr>
        <p:spPr>
          <a:xfrm>
            <a:off x="1648214" y="879113"/>
            <a:ext cx="11822175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Cameras of convalescent is placed in </a:t>
            </a:r>
            <a:r>
              <a:rPr kumimoji="0" lang="en-US" altLang="zh-TW" sz="2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FLOOR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 angle of view.</a:t>
            </a:r>
            <a:endParaRPr kumimoji="0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HYGothic-Extra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FEAF796-BD16-DA00-7520-A9855BF0902C}"/>
              </a:ext>
            </a:extLst>
          </p:cNvPr>
          <p:cNvSpPr txBox="1"/>
          <p:nvPr/>
        </p:nvSpPr>
        <p:spPr>
          <a:xfrm>
            <a:off x="2790563" y="5910041"/>
            <a:ext cx="94492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Simulate abnormal convalescent behavior: </a:t>
            </a:r>
            <a:r>
              <a:rPr kumimoji="1" lang="en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incorrect execution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( The convalescent performs 2 incorrect action in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set of movements. 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)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32430FE8-FA71-EE4C-AA84-98D38ABECA6C}"/>
              </a:ext>
            </a:extLst>
          </p:cNvPr>
          <p:cNvSpPr txBox="1">
            <a:spLocks/>
          </p:cNvSpPr>
          <p:nvPr/>
        </p:nvSpPr>
        <p:spPr>
          <a:xfrm>
            <a:off x="115302" y="3966279"/>
            <a:ext cx="3779744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Spec: 30 FPS</a:t>
            </a:r>
          </a:p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Duration : 20 seconds</a:t>
            </a:r>
          </a:p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(freeze time excluded)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圖片 8" descr="一張含有 足部穿著, 服裝, 牆, 人員 的圖片&#10;&#10;AI 產生的內容可能不正確。">
            <a:extLst>
              <a:ext uri="{FF2B5EF4-FFF2-40B4-BE49-F238E27FC236}">
                <a16:creationId xmlns:a16="http://schemas.microsoft.com/office/drawing/2014/main" id="{C6B9FD6B-7710-6DCC-4215-0BBAF9EB64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67" b="15090"/>
          <a:stretch/>
        </p:blipFill>
        <p:spPr>
          <a:xfrm>
            <a:off x="8499989" y="1861518"/>
            <a:ext cx="3072211" cy="379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841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EF23E21D-39E3-7939-87A5-1A3ECF745EAE}"/>
              </a:ext>
            </a:extLst>
          </p:cNvPr>
          <p:cNvSpPr txBox="1"/>
          <p:nvPr/>
        </p:nvSpPr>
        <p:spPr>
          <a:xfrm>
            <a:off x="1199455" y="1681035"/>
            <a:ext cx="979308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Physiotherapy Video Matching Method Supporting Arbitrary Camera Placement via AI-Generated Angle-of-Lamb-based Posture Structures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E79FCAF-C42C-04D0-74D6-31454D643987}"/>
              </a:ext>
            </a:extLst>
          </p:cNvPr>
          <p:cNvSpPr txBox="1"/>
          <p:nvPr/>
        </p:nvSpPr>
        <p:spPr>
          <a:xfrm>
            <a:off x="1327195" y="4869160"/>
            <a:ext cx="95376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Jiunn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-Wu Lin, Pi-Wei Chen, Yun-Pin Huang, Min-Hsiung Hung, IEEESM, Ming-Hung Kao, Jia Ji, Lin-Yi Jiang, Yao-Sheng Chou, Chao-Chun Chen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028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E0B69C-211C-62B8-8EC3-5FB4C46C7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標題 1">
            <a:extLst>
              <a:ext uri="{FF2B5EF4-FFF2-40B4-BE49-F238E27FC236}">
                <a16:creationId xmlns:a16="http://schemas.microsoft.com/office/drawing/2014/main" id="{960AED02-E2F0-8154-D0C4-151480F689D3}"/>
              </a:ext>
            </a:extLst>
          </p:cNvPr>
          <p:cNvSpPr txBox="1">
            <a:spLocks/>
          </p:cNvSpPr>
          <p:nvPr/>
        </p:nvSpPr>
        <p:spPr>
          <a:xfrm>
            <a:off x="107569" y="-66896"/>
            <a:ext cx="2492829" cy="1038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Part1</a:t>
            </a:r>
            <a:endParaRPr lang="zh-TW" altLang="en-US" sz="4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副標題 2">
            <a:extLst>
              <a:ext uri="{FF2B5EF4-FFF2-40B4-BE49-F238E27FC236}">
                <a16:creationId xmlns:a16="http://schemas.microsoft.com/office/drawing/2014/main" id="{ADB751CE-8E68-D18F-5AE7-D3633A29C3C3}"/>
              </a:ext>
            </a:extLst>
          </p:cNvPr>
          <p:cNvSpPr txBox="1">
            <a:spLocks/>
          </p:cNvSpPr>
          <p:nvPr/>
        </p:nvSpPr>
        <p:spPr>
          <a:xfrm>
            <a:off x="-37452" y="2158603"/>
            <a:ext cx="3503443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Camera’s Position</a:t>
            </a:r>
          </a:p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Mentor    : Front</a:t>
            </a:r>
          </a:p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Convalescent : Front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副標題 2">
            <a:extLst>
              <a:ext uri="{FF2B5EF4-FFF2-40B4-BE49-F238E27FC236}">
                <a16:creationId xmlns:a16="http://schemas.microsoft.com/office/drawing/2014/main" id="{ABD978B1-4044-8B51-139E-51C9C927F0A2}"/>
              </a:ext>
            </a:extLst>
          </p:cNvPr>
          <p:cNvSpPr txBox="1">
            <a:spLocks/>
          </p:cNvSpPr>
          <p:nvPr/>
        </p:nvSpPr>
        <p:spPr>
          <a:xfrm>
            <a:off x="3555024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副標題 2">
            <a:extLst>
              <a:ext uri="{FF2B5EF4-FFF2-40B4-BE49-F238E27FC236}">
                <a16:creationId xmlns:a16="http://schemas.microsoft.com/office/drawing/2014/main" id="{F34A57A6-A882-FD1D-9B84-53E0146E7567}"/>
              </a:ext>
            </a:extLst>
          </p:cNvPr>
          <p:cNvSpPr txBox="1">
            <a:spLocks/>
          </p:cNvSpPr>
          <p:nvPr/>
        </p:nvSpPr>
        <p:spPr>
          <a:xfrm>
            <a:off x="8193688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Convalescent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圖片 24" descr="一張含有 人員, 裙子, 牆, 迷你裙 的圖片&#10;&#10;自動產生的描述">
            <a:extLst>
              <a:ext uri="{FF2B5EF4-FFF2-40B4-BE49-F238E27FC236}">
                <a16:creationId xmlns:a16="http://schemas.microsoft.com/office/drawing/2014/main" id="{C0A7D27B-F714-77A4-9605-FD9FCBD2C8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6296" y="1861518"/>
            <a:ext cx="3089587" cy="3799114"/>
          </a:xfrm>
          <a:prstGeom prst="rect">
            <a:avLst/>
          </a:prstGeom>
        </p:spPr>
      </p:pic>
      <p:pic>
        <p:nvPicPr>
          <p:cNvPr id="26" name="圖片 25" descr="一張含有 人員, 足部穿著, 牆, 肩膀 的圖片&#10;&#10;自動產生的描述">
            <a:extLst>
              <a:ext uri="{FF2B5EF4-FFF2-40B4-BE49-F238E27FC236}">
                <a16:creationId xmlns:a16="http://schemas.microsoft.com/office/drawing/2014/main" id="{855449DC-44A8-A675-B8F3-F5D936F2AD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6857" y="1861518"/>
            <a:ext cx="2438476" cy="3825588"/>
          </a:xfrm>
          <a:prstGeom prst="rect">
            <a:avLst/>
          </a:prstGeom>
        </p:spPr>
      </p:pic>
      <p:sp>
        <p:nvSpPr>
          <p:cNvPr id="28" name="副標題 2">
            <a:extLst>
              <a:ext uri="{FF2B5EF4-FFF2-40B4-BE49-F238E27FC236}">
                <a16:creationId xmlns:a16="http://schemas.microsoft.com/office/drawing/2014/main" id="{8A33421E-AB83-29DE-91D9-716402D8416B}"/>
              </a:ext>
            </a:extLst>
          </p:cNvPr>
          <p:cNvSpPr txBox="1">
            <a:spLocks/>
          </p:cNvSpPr>
          <p:nvPr/>
        </p:nvSpPr>
        <p:spPr>
          <a:xfrm>
            <a:off x="115302" y="3966279"/>
            <a:ext cx="3779744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Spec: 30 FPS</a:t>
            </a:r>
          </a:p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Duration : 20 seconds</a:t>
            </a:r>
          </a:p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(freeze time excluded)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副標題 2">
            <a:extLst>
              <a:ext uri="{FF2B5EF4-FFF2-40B4-BE49-F238E27FC236}">
                <a16:creationId xmlns:a16="http://schemas.microsoft.com/office/drawing/2014/main" id="{B977F6E3-B171-72E8-A683-35292BA13AD9}"/>
              </a:ext>
            </a:extLst>
          </p:cNvPr>
          <p:cNvSpPr txBox="1">
            <a:spLocks/>
          </p:cNvSpPr>
          <p:nvPr/>
        </p:nvSpPr>
        <p:spPr>
          <a:xfrm>
            <a:off x="969480" y="877116"/>
            <a:ext cx="11386457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2400" b="1" dirty="0"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Cameras of mentor and convalescent are placed in </a:t>
            </a:r>
            <a:r>
              <a:rPr lang="en-US" altLang="zh-TW" sz="2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SAME</a:t>
            </a:r>
            <a:r>
              <a:rPr lang="en-US" altLang="zh-TW" sz="2400" b="1" dirty="0"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 angle of view.</a:t>
            </a:r>
            <a:endParaRPr lang="zh-TW" altLang="en-US" sz="2400" b="1" dirty="0">
              <a:latin typeface="Times New Roman" panose="02020603050405020304" pitchFamily="18" charset="0"/>
              <a:ea typeface="HYGothic-Extra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914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21F29D-99D6-3B71-20BD-0C4CDC59A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標題 1">
            <a:extLst>
              <a:ext uri="{FF2B5EF4-FFF2-40B4-BE49-F238E27FC236}">
                <a16:creationId xmlns:a16="http://schemas.microsoft.com/office/drawing/2014/main" id="{DBF92159-9BCE-FF47-6520-03DCA93568A7}"/>
              </a:ext>
            </a:extLst>
          </p:cNvPr>
          <p:cNvSpPr txBox="1">
            <a:spLocks/>
          </p:cNvSpPr>
          <p:nvPr/>
        </p:nvSpPr>
        <p:spPr>
          <a:xfrm>
            <a:off x="107569" y="-66896"/>
            <a:ext cx="2492829" cy="1038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Part2</a:t>
            </a:r>
            <a:endParaRPr lang="zh-TW" altLang="en-US" sz="4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副標題 2">
            <a:extLst>
              <a:ext uri="{FF2B5EF4-FFF2-40B4-BE49-F238E27FC236}">
                <a16:creationId xmlns:a16="http://schemas.microsoft.com/office/drawing/2014/main" id="{07D775AE-D645-A019-F66E-19DA75E034E8}"/>
              </a:ext>
            </a:extLst>
          </p:cNvPr>
          <p:cNvSpPr txBox="1">
            <a:spLocks/>
          </p:cNvSpPr>
          <p:nvPr/>
        </p:nvSpPr>
        <p:spPr>
          <a:xfrm>
            <a:off x="3555024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副標題 2">
            <a:extLst>
              <a:ext uri="{FF2B5EF4-FFF2-40B4-BE49-F238E27FC236}">
                <a16:creationId xmlns:a16="http://schemas.microsoft.com/office/drawing/2014/main" id="{4022DA60-2D7C-D0EB-6349-47F9F04AE214}"/>
              </a:ext>
            </a:extLst>
          </p:cNvPr>
          <p:cNvSpPr txBox="1">
            <a:spLocks/>
          </p:cNvSpPr>
          <p:nvPr/>
        </p:nvSpPr>
        <p:spPr>
          <a:xfrm>
            <a:off x="8193688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Convalescent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圖片 24" descr="一張含有 人員, 裙子, 牆, 迷你裙 的圖片&#10;&#10;自動產生的描述">
            <a:extLst>
              <a:ext uri="{FF2B5EF4-FFF2-40B4-BE49-F238E27FC236}">
                <a16:creationId xmlns:a16="http://schemas.microsoft.com/office/drawing/2014/main" id="{DF41F55A-1760-0764-797F-6067A1B25D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6296" y="1861518"/>
            <a:ext cx="3089587" cy="3799114"/>
          </a:xfrm>
          <a:prstGeom prst="rect">
            <a:avLst/>
          </a:prstGeom>
        </p:spPr>
      </p:pic>
      <p:pic>
        <p:nvPicPr>
          <p:cNvPr id="3" name="圖片 2" descr="一張含有 人員, 服裝, 牆, 褲子 的圖片&#10;&#10;自動產生的描述">
            <a:extLst>
              <a:ext uri="{FF2B5EF4-FFF2-40B4-BE49-F238E27FC236}">
                <a16:creationId xmlns:a16="http://schemas.microsoft.com/office/drawing/2014/main" id="{7CC2EF27-24EE-72D2-FFB2-52C6E54987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6102" y="1861518"/>
            <a:ext cx="2970660" cy="3819638"/>
          </a:xfrm>
          <a:prstGeom prst="rect">
            <a:avLst/>
          </a:prstGeom>
        </p:spPr>
      </p:pic>
      <p:sp>
        <p:nvSpPr>
          <p:cNvPr id="4" name="副標題 2">
            <a:extLst>
              <a:ext uri="{FF2B5EF4-FFF2-40B4-BE49-F238E27FC236}">
                <a16:creationId xmlns:a16="http://schemas.microsoft.com/office/drawing/2014/main" id="{A91EECA8-DA53-0D37-7D63-C534FFB03B5E}"/>
              </a:ext>
            </a:extLst>
          </p:cNvPr>
          <p:cNvSpPr txBox="1">
            <a:spLocks/>
          </p:cNvSpPr>
          <p:nvPr/>
        </p:nvSpPr>
        <p:spPr>
          <a:xfrm>
            <a:off x="-37452" y="2158603"/>
            <a:ext cx="3503443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Camera’s Position</a:t>
            </a:r>
          </a:p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Mentor    : Front</a:t>
            </a:r>
          </a:p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Convalescent : Right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副標題 2">
            <a:extLst>
              <a:ext uri="{FF2B5EF4-FFF2-40B4-BE49-F238E27FC236}">
                <a16:creationId xmlns:a16="http://schemas.microsoft.com/office/drawing/2014/main" id="{862111A1-21AE-508D-A73D-93706174943D}"/>
              </a:ext>
            </a:extLst>
          </p:cNvPr>
          <p:cNvSpPr txBox="1">
            <a:spLocks/>
          </p:cNvSpPr>
          <p:nvPr/>
        </p:nvSpPr>
        <p:spPr>
          <a:xfrm>
            <a:off x="391887" y="857485"/>
            <a:ext cx="11843946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2400" b="1" dirty="0"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Cameras of mentor and convalescent are placed in </a:t>
            </a:r>
            <a:r>
              <a:rPr lang="en-US" altLang="zh-TW" sz="2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DIFFERENT</a:t>
            </a:r>
            <a:r>
              <a:rPr lang="en-US" altLang="zh-TW" sz="2400" b="1" dirty="0"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 angle of view.</a:t>
            </a:r>
            <a:endParaRPr lang="zh-TW" altLang="en-US" sz="2400" b="1" dirty="0">
              <a:latin typeface="Times New Roman" panose="02020603050405020304" pitchFamily="18" charset="0"/>
              <a:ea typeface="HYGothic-Extra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7" name="副標題 2">
            <a:extLst>
              <a:ext uri="{FF2B5EF4-FFF2-40B4-BE49-F238E27FC236}">
                <a16:creationId xmlns:a16="http://schemas.microsoft.com/office/drawing/2014/main" id="{618D2EBB-C47A-F0D0-9D8C-C1541B370999}"/>
              </a:ext>
            </a:extLst>
          </p:cNvPr>
          <p:cNvSpPr txBox="1">
            <a:spLocks/>
          </p:cNvSpPr>
          <p:nvPr/>
        </p:nvSpPr>
        <p:spPr>
          <a:xfrm>
            <a:off x="115302" y="3966279"/>
            <a:ext cx="3779744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Spec: 30 FPS</a:t>
            </a:r>
          </a:p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Duration : 20 seconds</a:t>
            </a:r>
          </a:p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(freeze time excluded)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028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2411B3-12AA-FFBF-3CBE-F8BF0EAF5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標題 1">
            <a:extLst>
              <a:ext uri="{FF2B5EF4-FFF2-40B4-BE49-F238E27FC236}">
                <a16:creationId xmlns:a16="http://schemas.microsoft.com/office/drawing/2014/main" id="{B165298A-8A6C-2F9B-2C67-234FC6FACA9C}"/>
              </a:ext>
            </a:extLst>
          </p:cNvPr>
          <p:cNvSpPr txBox="1">
            <a:spLocks/>
          </p:cNvSpPr>
          <p:nvPr/>
        </p:nvSpPr>
        <p:spPr>
          <a:xfrm>
            <a:off x="107569" y="-66896"/>
            <a:ext cx="2492829" cy="1038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Part3</a:t>
            </a:r>
            <a:endParaRPr lang="zh-TW" altLang="en-US" sz="4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副標題 2">
            <a:extLst>
              <a:ext uri="{FF2B5EF4-FFF2-40B4-BE49-F238E27FC236}">
                <a16:creationId xmlns:a16="http://schemas.microsoft.com/office/drawing/2014/main" id="{556224A6-4AFC-559A-C145-4FDE1B31FD58}"/>
              </a:ext>
            </a:extLst>
          </p:cNvPr>
          <p:cNvSpPr txBox="1">
            <a:spLocks/>
          </p:cNvSpPr>
          <p:nvPr/>
        </p:nvSpPr>
        <p:spPr>
          <a:xfrm>
            <a:off x="3555024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副標題 2">
            <a:extLst>
              <a:ext uri="{FF2B5EF4-FFF2-40B4-BE49-F238E27FC236}">
                <a16:creationId xmlns:a16="http://schemas.microsoft.com/office/drawing/2014/main" id="{135647AE-8FCA-37BD-DC22-46407A0C9880}"/>
              </a:ext>
            </a:extLst>
          </p:cNvPr>
          <p:cNvSpPr txBox="1">
            <a:spLocks/>
          </p:cNvSpPr>
          <p:nvPr/>
        </p:nvSpPr>
        <p:spPr>
          <a:xfrm>
            <a:off x="8193688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Convalescent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圖片 24" descr="一張含有 人員, 裙子, 牆, 迷你裙 的圖片&#10;&#10;自動產生的描述">
            <a:extLst>
              <a:ext uri="{FF2B5EF4-FFF2-40B4-BE49-F238E27FC236}">
                <a16:creationId xmlns:a16="http://schemas.microsoft.com/office/drawing/2014/main" id="{2FB0675E-64D8-2CCC-10F1-56357347FC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6296" y="1861518"/>
            <a:ext cx="3089587" cy="3799114"/>
          </a:xfrm>
          <a:prstGeom prst="rect">
            <a:avLst/>
          </a:prstGeom>
        </p:spPr>
      </p:pic>
      <p:pic>
        <p:nvPicPr>
          <p:cNvPr id="4" name="圖片 3" descr="一張含有 人員, 足部穿著, 牆, 服裝 的圖片&#10;&#10;自動產生的描述">
            <a:extLst>
              <a:ext uri="{FF2B5EF4-FFF2-40B4-BE49-F238E27FC236}">
                <a16:creationId xmlns:a16="http://schemas.microsoft.com/office/drawing/2014/main" id="{F899594A-CE52-E990-5EBB-BFA9F69442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29" y="1861519"/>
            <a:ext cx="3123896" cy="3799114"/>
          </a:xfrm>
          <a:prstGeom prst="rect">
            <a:avLst/>
          </a:prstGeom>
        </p:spPr>
      </p:pic>
      <p:sp>
        <p:nvSpPr>
          <p:cNvPr id="3" name="副標題 2">
            <a:extLst>
              <a:ext uri="{FF2B5EF4-FFF2-40B4-BE49-F238E27FC236}">
                <a16:creationId xmlns:a16="http://schemas.microsoft.com/office/drawing/2014/main" id="{9C5BA256-0065-FFCE-04B0-1CB418D511B7}"/>
              </a:ext>
            </a:extLst>
          </p:cNvPr>
          <p:cNvSpPr txBox="1">
            <a:spLocks/>
          </p:cNvSpPr>
          <p:nvPr/>
        </p:nvSpPr>
        <p:spPr>
          <a:xfrm>
            <a:off x="-37452" y="2158603"/>
            <a:ext cx="3503443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Camera’s Position</a:t>
            </a:r>
          </a:p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Mentor     : Front</a:t>
            </a:r>
          </a:p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Convalescent :  Left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副標題 2">
            <a:extLst>
              <a:ext uri="{FF2B5EF4-FFF2-40B4-BE49-F238E27FC236}">
                <a16:creationId xmlns:a16="http://schemas.microsoft.com/office/drawing/2014/main" id="{8DB2BC3F-8AF5-6F89-E022-4A9FB6B38212}"/>
              </a:ext>
            </a:extLst>
          </p:cNvPr>
          <p:cNvSpPr txBox="1">
            <a:spLocks/>
          </p:cNvSpPr>
          <p:nvPr/>
        </p:nvSpPr>
        <p:spPr>
          <a:xfrm>
            <a:off x="413657" y="857485"/>
            <a:ext cx="11822175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2400" b="1" dirty="0"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Cameras of mentor and convalescent are placed in </a:t>
            </a:r>
            <a:r>
              <a:rPr lang="en-US" altLang="zh-TW" sz="2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DIFFERENT</a:t>
            </a:r>
            <a:r>
              <a:rPr lang="en-US" altLang="zh-TW" sz="2400" b="1" dirty="0"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 angle of view.</a:t>
            </a:r>
            <a:endParaRPr lang="zh-TW" altLang="en-US" sz="2400" b="1" dirty="0">
              <a:latin typeface="Times New Roman" panose="02020603050405020304" pitchFamily="18" charset="0"/>
              <a:ea typeface="HYGothic-Extra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7" name="副標題 2">
            <a:extLst>
              <a:ext uri="{FF2B5EF4-FFF2-40B4-BE49-F238E27FC236}">
                <a16:creationId xmlns:a16="http://schemas.microsoft.com/office/drawing/2014/main" id="{28E3F2F0-F7B9-4A10-E49A-C2A371014644}"/>
              </a:ext>
            </a:extLst>
          </p:cNvPr>
          <p:cNvSpPr txBox="1">
            <a:spLocks/>
          </p:cNvSpPr>
          <p:nvPr/>
        </p:nvSpPr>
        <p:spPr>
          <a:xfrm>
            <a:off x="115302" y="3966279"/>
            <a:ext cx="3779744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Spec: 30 FPS</a:t>
            </a:r>
          </a:p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Duration : 20 seconds</a:t>
            </a:r>
          </a:p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(freeze time excluded)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712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FB8F43-3335-25E1-3B6E-20C885EC9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標題 1">
            <a:extLst>
              <a:ext uri="{FF2B5EF4-FFF2-40B4-BE49-F238E27FC236}">
                <a16:creationId xmlns:a16="http://schemas.microsoft.com/office/drawing/2014/main" id="{3F314861-DAE5-24D2-973B-C0B7D9B020F7}"/>
              </a:ext>
            </a:extLst>
          </p:cNvPr>
          <p:cNvSpPr txBox="1">
            <a:spLocks/>
          </p:cNvSpPr>
          <p:nvPr/>
        </p:nvSpPr>
        <p:spPr>
          <a:xfrm>
            <a:off x="107569" y="-66896"/>
            <a:ext cx="11052518" cy="1038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Part</a:t>
            </a:r>
            <a:r>
              <a:rPr lang="en-US" altLang="zh-TW" dirty="0">
                <a:solidFill>
                  <a:prstClr val="black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4: </a:t>
            </a:r>
            <a:r>
              <a:rPr lang="en-US" altLang="zh-TW" sz="3900" dirty="0">
                <a:solidFill>
                  <a:prstClr val="black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Robustness Study Under Challenging Conditions </a:t>
            </a: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3" name="副標題 2">
            <a:extLst>
              <a:ext uri="{FF2B5EF4-FFF2-40B4-BE49-F238E27FC236}">
                <a16:creationId xmlns:a16="http://schemas.microsoft.com/office/drawing/2014/main" id="{F87E25BE-B92F-ECB1-3AE8-68A16030CFE8}"/>
              </a:ext>
            </a:extLst>
          </p:cNvPr>
          <p:cNvSpPr txBox="1">
            <a:spLocks/>
          </p:cNvSpPr>
          <p:nvPr/>
        </p:nvSpPr>
        <p:spPr>
          <a:xfrm>
            <a:off x="4222353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Mentor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4" name="副標題 2">
            <a:extLst>
              <a:ext uri="{FF2B5EF4-FFF2-40B4-BE49-F238E27FC236}">
                <a16:creationId xmlns:a16="http://schemas.microsoft.com/office/drawing/2014/main" id="{259AA1B0-1ED7-3DE4-CF23-3FF67ECF7A80}"/>
              </a:ext>
            </a:extLst>
          </p:cNvPr>
          <p:cNvSpPr txBox="1">
            <a:spLocks/>
          </p:cNvSpPr>
          <p:nvPr/>
        </p:nvSpPr>
        <p:spPr>
          <a:xfrm>
            <a:off x="8193688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Convalescent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pic>
        <p:nvPicPr>
          <p:cNvPr id="25" name="圖片 24" descr="一張含有 人員, 裙子, 牆, 迷你裙 的圖片&#10;&#10;自動產生的描述">
            <a:extLst>
              <a:ext uri="{FF2B5EF4-FFF2-40B4-BE49-F238E27FC236}">
                <a16:creationId xmlns:a16="http://schemas.microsoft.com/office/drawing/2014/main" id="{CC3FCA31-D52D-1A3E-04B3-1EE1BAF1C5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625" y="1861518"/>
            <a:ext cx="3089587" cy="3799114"/>
          </a:xfrm>
          <a:prstGeom prst="rect">
            <a:avLst/>
          </a:prstGeom>
        </p:spPr>
      </p:pic>
      <p:sp>
        <p:nvSpPr>
          <p:cNvPr id="3" name="副標題 2">
            <a:extLst>
              <a:ext uri="{FF2B5EF4-FFF2-40B4-BE49-F238E27FC236}">
                <a16:creationId xmlns:a16="http://schemas.microsoft.com/office/drawing/2014/main" id="{EFBCA087-CA48-4EF1-5DD7-0CF003374FE6}"/>
              </a:ext>
            </a:extLst>
          </p:cNvPr>
          <p:cNvSpPr txBox="1">
            <a:spLocks/>
          </p:cNvSpPr>
          <p:nvPr/>
        </p:nvSpPr>
        <p:spPr>
          <a:xfrm>
            <a:off x="-37452" y="2158603"/>
            <a:ext cx="3503443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Camera’s Position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      Mentor     : Front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Convalescent  :  Left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副標題 2">
            <a:extLst>
              <a:ext uri="{FF2B5EF4-FFF2-40B4-BE49-F238E27FC236}">
                <a16:creationId xmlns:a16="http://schemas.microsoft.com/office/drawing/2014/main" id="{760E2886-9CFA-C657-58E3-D433CD33B28C}"/>
              </a:ext>
            </a:extLst>
          </p:cNvPr>
          <p:cNvSpPr txBox="1">
            <a:spLocks/>
          </p:cNvSpPr>
          <p:nvPr/>
        </p:nvSpPr>
        <p:spPr>
          <a:xfrm>
            <a:off x="1648214" y="879113"/>
            <a:ext cx="11822175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Cameras of convalescent is placed in </a:t>
            </a:r>
            <a:r>
              <a:rPr kumimoji="0" lang="en-US" altLang="zh-TW" sz="2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FLOOR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 angle of view.</a:t>
            </a:r>
            <a:endParaRPr kumimoji="0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HYGothic-Extra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7" name="副標題 2">
            <a:extLst>
              <a:ext uri="{FF2B5EF4-FFF2-40B4-BE49-F238E27FC236}">
                <a16:creationId xmlns:a16="http://schemas.microsoft.com/office/drawing/2014/main" id="{39D3D549-59EE-66D1-A7B2-81FF627518D7}"/>
              </a:ext>
            </a:extLst>
          </p:cNvPr>
          <p:cNvSpPr txBox="1">
            <a:spLocks/>
          </p:cNvSpPr>
          <p:nvPr/>
        </p:nvSpPr>
        <p:spPr>
          <a:xfrm>
            <a:off x="203967" y="4047541"/>
            <a:ext cx="4522269" cy="210437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Video Spec: 30 FPS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  Duration :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               Mentor: 20 seconds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               Convalescent: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38</a:t>
            </a:r>
            <a:r>
              <a:rPr kumimoji="0" lang="en-US" altLang="zh-TW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seconds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  (freeze time excluded)</a:t>
            </a:r>
            <a:endParaRPr kumimoji="0" lang="zh-TW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 descr="一張含有 足部穿著, 服裝, 牆, 人員 的圖片&#10;&#10;AI 產生的內容可能不正確。">
            <a:extLst>
              <a:ext uri="{FF2B5EF4-FFF2-40B4-BE49-F238E27FC236}">
                <a16:creationId xmlns:a16="http://schemas.microsoft.com/office/drawing/2014/main" id="{284D8119-3E2B-FF9E-5244-5BF7C5379A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67" b="19907"/>
          <a:stretch/>
        </p:blipFill>
        <p:spPr>
          <a:xfrm>
            <a:off x="8491301" y="1861518"/>
            <a:ext cx="3089587" cy="3799114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88DC6C0A-14DC-0D06-73AC-C3B610D14B3C}"/>
              </a:ext>
            </a:extLst>
          </p:cNvPr>
          <p:cNvSpPr txBox="1"/>
          <p:nvPr/>
        </p:nvSpPr>
        <p:spPr>
          <a:xfrm>
            <a:off x="1971541" y="5901215"/>
            <a:ext cx="94019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abnormal convalescent behavior: </a:t>
            </a:r>
            <a:r>
              <a:rPr kumimoji="1" lang="en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slow-paced execution</a:t>
            </a:r>
          </a:p>
          <a:p>
            <a:pPr algn="ctr"/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The convalescent performs every movement at half the mentor’s speed. )</a:t>
            </a:r>
            <a:r>
              <a:rPr kumimoji="1" lang="en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zh-TW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818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911CE2-18A4-07DE-36EB-F1836259B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標題 1">
            <a:extLst>
              <a:ext uri="{FF2B5EF4-FFF2-40B4-BE49-F238E27FC236}">
                <a16:creationId xmlns:a16="http://schemas.microsoft.com/office/drawing/2014/main" id="{60F3028D-412A-6D53-ED84-B149A234ED50}"/>
              </a:ext>
            </a:extLst>
          </p:cNvPr>
          <p:cNvSpPr txBox="1">
            <a:spLocks/>
          </p:cNvSpPr>
          <p:nvPr/>
        </p:nvSpPr>
        <p:spPr>
          <a:xfrm>
            <a:off x="107569" y="-66896"/>
            <a:ext cx="11052518" cy="1038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Part5: </a:t>
            </a:r>
            <a:r>
              <a:rPr kumimoji="0" lang="en-US" altLang="zh-TW" sz="3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Robustness Study Under Challenging Conditions </a:t>
            </a: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3" name="副標題 2">
            <a:extLst>
              <a:ext uri="{FF2B5EF4-FFF2-40B4-BE49-F238E27FC236}">
                <a16:creationId xmlns:a16="http://schemas.microsoft.com/office/drawing/2014/main" id="{40A67E28-E476-0AD8-0CBE-7A5BF837A2F7}"/>
              </a:ext>
            </a:extLst>
          </p:cNvPr>
          <p:cNvSpPr txBox="1">
            <a:spLocks/>
          </p:cNvSpPr>
          <p:nvPr/>
        </p:nvSpPr>
        <p:spPr>
          <a:xfrm>
            <a:off x="4222353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Mentor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4" name="副標題 2">
            <a:extLst>
              <a:ext uri="{FF2B5EF4-FFF2-40B4-BE49-F238E27FC236}">
                <a16:creationId xmlns:a16="http://schemas.microsoft.com/office/drawing/2014/main" id="{F7D0D7FB-59FA-C64A-2CEE-94F0B0B22740}"/>
              </a:ext>
            </a:extLst>
          </p:cNvPr>
          <p:cNvSpPr txBox="1">
            <a:spLocks/>
          </p:cNvSpPr>
          <p:nvPr/>
        </p:nvSpPr>
        <p:spPr>
          <a:xfrm>
            <a:off x="8193688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Convalescent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pic>
        <p:nvPicPr>
          <p:cNvPr id="25" name="圖片 24" descr="一張含有 人員, 裙子, 牆, 迷你裙 的圖片&#10;&#10;自動產生的描述">
            <a:extLst>
              <a:ext uri="{FF2B5EF4-FFF2-40B4-BE49-F238E27FC236}">
                <a16:creationId xmlns:a16="http://schemas.microsoft.com/office/drawing/2014/main" id="{3A50E899-E47E-3AF7-1F4A-40F43F2F1E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625" y="1861518"/>
            <a:ext cx="3089587" cy="3799114"/>
          </a:xfrm>
          <a:prstGeom prst="rect">
            <a:avLst/>
          </a:prstGeom>
        </p:spPr>
      </p:pic>
      <p:sp>
        <p:nvSpPr>
          <p:cNvPr id="3" name="副標題 2">
            <a:extLst>
              <a:ext uri="{FF2B5EF4-FFF2-40B4-BE49-F238E27FC236}">
                <a16:creationId xmlns:a16="http://schemas.microsoft.com/office/drawing/2014/main" id="{773ACD37-5D4C-0EC1-C10D-D1A01B1A2548}"/>
              </a:ext>
            </a:extLst>
          </p:cNvPr>
          <p:cNvSpPr txBox="1">
            <a:spLocks/>
          </p:cNvSpPr>
          <p:nvPr/>
        </p:nvSpPr>
        <p:spPr>
          <a:xfrm>
            <a:off x="-37452" y="2158603"/>
            <a:ext cx="3503443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Camera’s Position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      Mentor     : Front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Convalescent  :  Left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副標題 2">
            <a:extLst>
              <a:ext uri="{FF2B5EF4-FFF2-40B4-BE49-F238E27FC236}">
                <a16:creationId xmlns:a16="http://schemas.microsoft.com/office/drawing/2014/main" id="{9E614108-A05A-4523-B55F-87F976531C12}"/>
              </a:ext>
            </a:extLst>
          </p:cNvPr>
          <p:cNvSpPr txBox="1">
            <a:spLocks/>
          </p:cNvSpPr>
          <p:nvPr/>
        </p:nvSpPr>
        <p:spPr>
          <a:xfrm>
            <a:off x="1648214" y="879113"/>
            <a:ext cx="11822175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Cameras of convalescent is placed in </a:t>
            </a:r>
            <a:r>
              <a:rPr kumimoji="0" lang="en-US" altLang="zh-TW" sz="2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FLOOR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 angle of view.</a:t>
            </a:r>
            <a:endParaRPr kumimoji="0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HYGothic-Extra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A2ACD7A-C862-B576-DDFF-792F698B5AB6}"/>
              </a:ext>
            </a:extLst>
          </p:cNvPr>
          <p:cNvSpPr txBox="1"/>
          <p:nvPr/>
        </p:nvSpPr>
        <p:spPr>
          <a:xfrm>
            <a:off x="3358720" y="5901215"/>
            <a:ext cx="78013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Simulate abnormal convalescent behavior: </a:t>
            </a:r>
            <a:r>
              <a:rPr kumimoji="1" lang="en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lack of actions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The convalescent lacks 1 action in each set of movements. )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 descr="一張含有 人員, 牆, 足部穿著, 服裝 的圖片&#10;&#10;AI 產生的內容可能不正確。">
            <a:extLst>
              <a:ext uri="{FF2B5EF4-FFF2-40B4-BE49-F238E27FC236}">
                <a16:creationId xmlns:a16="http://schemas.microsoft.com/office/drawing/2014/main" id="{2D458D8A-CEA6-F04B-34EF-94B60B98D3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39" b="19456"/>
          <a:stretch/>
        </p:blipFill>
        <p:spPr>
          <a:xfrm>
            <a:off x="8493859" y="1861518"/>
            <a:ext cx="3084472" cy="3799114"/>
          </a:xfrm>
          <a:prstGeom prst="rect">
            <a:avLst/>
          </a:prstGeom>
        </p:spPr>
      </p:pic>
      <p:sp>
        <p:nvSpPr>
          <p:cNvPr id="9" name="副標題 2">
            <a:extLst>
              <a:ext uri="{FF2B5EF4-FFF2-40B4-BE49-F238E27FC236}">
                <a16:creationId xmlns:a16="http://schemas.microsoft.com/office/drawing/2014/main" id="{D8A353E1-B70B-DA58-5887-144B65A8974F}"/>
              </a:ext>
            </a:extLst>
          </p:cNvPr>
          <p:cNvSpPr txBox="1">
            <a:spLocks/>
          </p:cNvSpPr>
          <p:nvPr/>
        </p:nvSpPr>
        <p:spPr>
          <a:xfrm>
            <a:off x="115302" y="3966279"/>
            <a:ext cx="3779744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Spec: 30 FPS</a:t>
            </a:r>
          </a:p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Duration : 20 seconds</a:t>
            </a:r>
          </a:p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(freeze time excluded)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495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44870E-1436-EF9A-DD85-0967A53A8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標題 1">
            <a:extLst>
              <a:ext uri="{FF2B5EF4-FFF2-40B4-BE49-F238E27FC236}">
                <a16:creationId xmlns:a16="http://schemas.microsoft.com/office/drawing/2014/main" id="{1B567A94-99B2-6695-AA92-64EB5545361C}"/>
              </a:ext>
            </a:extLst>
          </p:cNvPr>
          <p:cNvSpPr txBox="1">
            <a:spLocks/>
          </p:cNvSpPr>
          <p:nvPr/>
        </p:nvSpPr>
        <p:spPr>
          <a:xfrm>
            <a:off x="107569" y="-66896"/>
            <a:ext cx="11052518" cy="1038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Part6: </a:t>
            </a:r>
            <a:r>
              <a:rPr kumimoji="0" lang="en-US" altLang="zh-TW" sz="3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Robustness Study Under Challenging Conditions </a:t>
            </a: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3" name="副標題 2">
            <a:extLst>
              <a:ext uri="{FF2B5EF4-FFF2-40B4-BE49-F238E27FC236}">
                <a16:creationId xmlns:a16="http://schemas.microsoft.com/office/drawing/2014/main" id="{21C66E0F-50F1-C359-BFC9-1495111B2631}"/>
              </a:ext>
            </a:extLst>
          </p:cNvPr>
          <p:cNvSpPr txBox="1">
            <a:spLocks/>
          </p:cNvSpPr>
          <p:nvPr/>
        </p:nvSpPr>
        <p:spPr>
          <a:xfrm>
            <a:off x="4222353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Mentor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4" name="副標題 2">
            <a:extLst>
              <a:ext uri="{FF2B5EF4-FFF2-40B4-BE49-F238E27FC236}">
                <a16:creationId xmlns:a16="http://schemas.microsoft.com/office/drawing/2014/main" id="{FA710303-9123-7453-9D8A-DFCCA65527BE}"/>
              </a:ext>
            </a:extLst>
          </p:cNvPr>
          <p:cNvSpPr txBox="1">
            <a:spLocks/>
          </p:cNvSpPr>
          <p:nvPr/>
        </p:nvSpPr>
        <p:spPr>
          <a:xfrm>
            <a:off x="8193688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Convalescent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pic>
        <p:nvPicPr>
          <p:cNvPr id="25" name="圖片 24" descr="一張含有 人員, 裙子, 牆, 迷你裙 的圖片&#10;&#10;自動產生的描述">
            <a:extLst>
              <a:ext uri="{FF2B5EF4-FFF2-40B4-BE49-F238E27FC236}">
                <a16:creationId xmlns:a16="http://schemas.microsoft.com/office/drawing/2014/main" id="{F28FD71E-585B-AD07-3A3B-E9E698A616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625" y="1861518"/>
            <a:ext cx="3089587" cy="3799114"/>
          </a:xfrm>
          <a:prstGeom prst="rect">
            <a:avLst/>
          </a:prstGeom>
        </p:spPr>
      </p:pic>
      <p:sp>
        <p:nvSpPr>
          <p:cNvPr id="3" name="副標題 2">
            <a:extLst>
              <a:ext uri="{FF2B5EF4-FFF2-40B4-BE49-F238E27FC236}">
                <a16:creationId xmlns:a16="http://schemas.microsoft.com/office/drawing/2014/main" id="{8FFD4E7D-E86A-1C0B-F20C-58FCD649A926}"/>
              </a:ext>
            </a:extLst>
          </p:cNvPr>
          <p:cNvSpPr txBox="1">
            <a:spLocks/>
          </p:cNvSpPr>
          <p:nvPr/>
        </p:nvSpPr>
        <p:spPr>
          <a:xfrm>
            <a:off x="-37452" y="2158603"/>
            <a:ext cx="3503443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Camera’s Position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      Mentor     : Front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Convalescent  :  Left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副標題 2">
            <a:extLst>
              <a:ext uri="{FF2B5EF4-FFF2-40B4-BE49-F238E27FC236}">
                <a16:creationId xmlns:a16="http://schemas.microsoft.com/office/drawing/2014/main" id="{1DEC782E-0E03-25BD-0CD5-AEC9B65D0AB8}"/>
              </a:ext>
            </a:extLst>
          </p:cNvPr>
          <p:cNvSpPr txBox="1">
            <a:spLocks/>
          </p:cNvSpPr>
          <p:nvPr/>
        </p:nvSpPr>
        <p:spPr>
          <a:xfrm>
            <a:off x="1648214" y="879113"/>
            <a:ext cx="11822175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Cameras of convalescent is placed in </a:t>
            </a:r>
            <a:r>
              <a:rPr kumimoji="0" lang="en-US" altLang="zh-TW" sz="2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FLOOR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 angle of view.</a:t>
            </a:r>
            <a:endParaRPr kumimoji="0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HYGothic-Extra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01B7E7F-1035-E89B-4C6D-F9F1F018CD27}"/>
              </a:ext>
            </a:extLst>
          </p:cNvPr>
          <p:cNvSpPr txBox="1"/>
          <p:nvPr/>
        </p:nvSpPr>
        <p:spPr>
          <a:xfrm>
            <a:off x="1355188" y="5953881"/>
            <a:ext cx="10015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Simulate abnormal convalescent behavior: </a:t>
            </a:r>
            <a:r>
              <a:rPr kumimoji="1" lang="en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redundant</a:t>
            </a:r>
            <a:r>
              <a:rPr kumimoji="1" lang="en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actions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( The convalescent performs 1 extra action in the first two sets of movements. )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" name="副標題 2">
            <a:extLst>
              <a:ext uri="{FF2B5EF4-FFF2-40B4-BE49-F238E27FC236}">
                <a16:creationId xmlns:a16="http://schemas.microsoft.com/office/drawing/2014/main" id="{77FEC15D-8E6C-D9A6-820D-014AAC321EEC}"/>
              </a:ext>
            </a:extLst>
          </p:cNvPr>
          <p:cNvSpPr txBox="1">
            <a:spLocks/>
          </p:cNvSpPr>
          <p:nvPr/>
        </p:nvSpPr>
        <p:spPr>
          <a:xfrm>
            <a:off x="203968" y="4047541"/>
            <a:ext cx="4357546" cy="203423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Video Spec: 30 FPS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  Duration :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               Mentor: 20 seconds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               Convalescent: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35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seconds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  (freeze time excluded)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pic>
        <p:nvPicPr>
          <p:cNvPr id="7" name="圖片 6" descr="一張含有 體育, 足部穿著, 牆, 人員 的圖片&#10;&#10;AI 產生的內容可能不正確。">
            <a:extLst>
              <a:ext uri="{FF2B5EF4-FFF2-40B4-BE49-F238E27FC236}">
                <a16:creationId xmlns:a16="http://schemas.microsoft.com/office/drawing/2014/main" id="{6A96DE09-48B5-1E17-B70B-2EE523E1AE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32" b="14942"/>
          <a:stretch/>
        </p:blipFill>
        <p:spPr>
          <a:xfrm>
            <a:off x="8492472" y="1861518"/>
            <a:ext cx="3090479" cy="379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825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FB427F-9928-AB4D-7260-D2DD9F7CE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標題 1">
            <a:extLst>
              <a:ext uri="{FF2B5EF4-FFF2-40B4-BE49-F238E27FC236}">
                <a16:creationId xmlns:a16="http://schemas.microsoft.com/office/drawing/2014/main" id="{67FC3B26-AF66-776A-E83B-2A0E21F84F48}"/>
              </a:ext>
            </a:extLst>
          </p:cNvPr>
          <p:cNvSpPr txBox="1">
            <a:spLocks/>
          </p:cNvSpPr>
          <p:nvPr/>
        </p:nvSpPr>
        <p:spPr>
          <a:xfrm>
            <a:off x="107569" y="-66896"/>
            <a:ext cx="11052518" cy="1038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Part7: </a:t>
            </a:r>
            <a:r>
              <a:rPr kumimoji="0" lang="en-US" altLang="zh-TW" sz="3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Robustness Study Under Challenging Conditions </a:t>
            </a: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3" name="副標題 2">
            <a:extLst>
              <a:ext uri="{FF2B5EF4-FFF2-40B4-BE49-F238E27FC236}">
                <a16:creationId xmlns:a16="http://schemas.microsoft.com/office/drawing/2014/main" id="{0C4CEA7D-B5A3-CE7A-5129-DE03EBB1C01A}"/>
              </a:ext>
            </a:extLst>
          </p:cNvPr>
          <p:cNvSpPr txBox="1">
            <a:spLocks/>
          </p:cNvSpPr>
          <p:nvPr/>
        </p:nvSpPr>
        <p:spPr>
          <a:xfrm>
            <a:off x="4222353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Mentor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4" name="副標題 2">
            <a:extLst>
              <a:ext uri="{FF2B5EF4-FFF2-40B4-BE49-F238E27FC236}">
                <a16:creationId xmlns:a16="http://schemas.microsoft.com/office/drawing/2014/main" id="{B7BC5544-7958-64E2-07DF-074CD50CE7CA}"/>
              </a:ext>
            </a:extLst>
          </p:cNvPr>
          <p:cNvSpPr txBox="1">
            <a:spLocks/>
          </p:cNvSpPr>
          <p:nvPr/>
        </p:nvSpPr>
        <p:spPr>
          <a:xfrm>
            <a:off x="8193688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Convalescent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pic>
        <p:nvPicPr>
          <p:cNvPr id="25" name="圖片 24" descr="一張含有 人員, 裙子, 牆, 迷你裙 的圖片&#10;&#10;自動產生的描述">
            <a:extLst>
              <a:ext uri="{FF2B5EF4-FFF2-40B4-BE49-F238E27FC236}">
                <a16:creationId xmlns:a16="http://schemas.microsoft.com/office/drawing/2014/main" id="{B5F0A2F2-BD5C-A990-3CE6-411B28C3DA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625" y="1861518"/>
            <a:ext cx="3089587" cy="3799114"/>
          </a:xfrm>
          <a:prstGeom prst="rect">
            <a:avLst/>
          </a:prstGeom>
        </p:spPr>
      </p:pic>
      <p:sp>
        <p:nvSpPr>
          <p:cNvPr id="3" name="副標題 2">
            <a:extLst>
              <a:ext uri="{FF2B5EF4-FFF2-40B4-BE49-F238E27FC236}">
                <a16:creationId xmlns:a16="http://schemas.microsoft.com/office/drawing/2014/main" id="{C6323AAE-296A-7AE3-94EC-595DA845B0FC}"/>
              </a:ext>
            </a:extLst>
          </p:cNvPr>
          <p:cNvSpPr txBox="1">
            <a:spLocks/>
          </p:cNvSpPr>
          <p:nvPr/>
        </p:nvSpPr>
        <p:spPr>
          <a:xfrm>
            <a:off x="-37452" y="2158603"/>
            <a:ext cx="3503443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Camera’s Position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      Mentor     : Front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Convalescent  :  Left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副標題 2">
            <a:extLst>
              <a:ext uri="{FF2B5EF4-FFF2-40B4-BE49-F238E27FC236}">
                <a16:creationId xmlns:a16="http://schemas.microsoft.com/office/drawing/2014/main" id="{7B2DDF48-8596-05C6-10CE-C995001FDDB9}"/>
              </a:ext>
            </a:extLst>
          </p:cNvPr>
          <p:cNvSpPr txBox="1">
            <a:spLocks/>
          </p:cNvSpPr>
          <p:nvPr/>
        </p:nvSpPr>
        <p:spPr>
          <a:xfrm>
            <a:off x="1648214" y="879113"/>
            <a:ext cx="11822175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Cameras of convalescent is placed in </a:t>
            </a:r>
            <a:r>
              <a:rPr kumimoji="0" lang="en-US" altLang="zh-TW" sz="2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FLOOR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 angle of view.</a:t>
            </a:r>
            <a:endParaRPr kumimoji="0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HYGothic-Extra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96FD63E-3375-0C64-D10B-DAF8EEB45928}"/>
              </a:ext>
            </a:extLst>
          </p:cNvPr>
          <p:cNvSpPr txBox="1"/>
          <p:nvPr/>
        </p:nvSpPr>
        <p:spPr>
          <a:xfrm>
            <a:off x="2005174" y="5901215"/>
            <a:ext cx="94492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Simulate abnormal convalescent behavior: </a:t>
            </a:r>
            <a:r>
              <a:rPr kumimoji="1" lang="en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incorrect execution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( The convalescent performs 2 incorrect action in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set of movements. 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)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C8210AD3-0913-7259-0626-9AB9F6D1C036}"/>
              </a:ext>
            </a:extLst>
          </p:cNvPr>
          <p:cNvSpPr txBox="1">
            <a:spLocks/>
          </p:cNvSpPr>
          <p:nvPr/>
        </p:nvSpPr>
        <p:spPr>
          <a:xfrm>
            <a:off x="115302" y="3966279"/>
            <a:ext cx="3779744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Spec: 30 FPS</a:t>
            </a:r>
          </a:p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Duration : 20 seconds</a:t>
            </a:r>
          </a:p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(freeze time excluded)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圖片 8" descr="一張含有 足部穿著, 服裝, 牆, 人員 的圖片&#10;&#10;AI 產生的內容可能不正確。">
            <a:extLst>
              <a:ext uri="{FF2B5EF4-FFF2-40B4-BE49-F238E27FC236}">
                <a16:creationId xmlns:a16="http://schemas.microsoft.com/office/drawing/2014/main" id="{9852B5FD-2E2B-EAD8-111F-FFE5C4EE93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67" b="15090"/>
          <a:stretch/>
        </p:blipFill>
        <p:spPr>
          <a:xfrm>
            <a:off x="8499989" y="1861518"/>
            <a:ext cx="3072211" cy="379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279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870</Words>
  <Application>Microsoft Office PowerPoint</Application>
  <PresentationFormat>寬螢幕</PresentationFormat>
  <Paragraphs>180</Paragraphs>
  <Slides>15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柏驊 邱</dc:creator>
  <cp:lastModifiedBy>邱柏驊</cp:lastModifiedBy>
  <cp:revision>21</cp:revision>
  <dcterms:created xsi:type="dcterms:W3CDTF">2024-12-04T08:47:16Z</dcterms:created>
  <dcterms:modified xsi:type="dcterms:W3CDTF">2025-05-10T17:54:32Z</dcterms:modified>
</cp:coreProperties>
</file>